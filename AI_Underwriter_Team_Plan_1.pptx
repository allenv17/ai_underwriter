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5"/>
    <p:sldId id="285" r:id="rId36"/>
    <p:sldId id="286" r:id="rId37"/>
    <p:sldId id="287" r:id="rId38"/>
    <p:sldId id="288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7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  <Relationship Id="rId35" Type="http://schemas.openxmlformats.org/officeDocument/2006/relationships/slide" Target="slides/slide29.xml"/>
  <Relationship Id="rId36" Type="http://schemas.openxmlformats.org/officeDocument/2006/relationships/slide" Target="slides/slide30.xml"/>
  <Relationship Id="rId37" Type="http://schemas.openxmlformats.org/officeDocument/2006/relationships/slide" Target="slides/slide31.xml"/>
  <Relationship Id="rId38" Type="http://schemas.openxmlformats.org/officeDocument/2006/relationships/slide" Target="slides/slide32.xml"/>
  <Relationship Id="rId39" Type="http://schemas.openxmlformats.org/officeDocument/2006/relationships/slide" Target="slides/slide33.xml"/>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7258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97280"/>
            <a:ext cx="4754880" cy="475488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CAPSTONE PROJECT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Underwriter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DRHP analysis and IPO valuation for Indian public issues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03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workstreams: research topics, design decisions and deliverables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93776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9377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DRHP Extraction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80360" y="493776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80360" y="49377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RAG / NLP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0" y="493776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49377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Financial Valuation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43800" y="493776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43800" y="49377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ML + Agent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 AI Underwriter?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749040" cy="4572000"/>
          </a:xfrm>
          <a:prstGeom prst="roundRect">
            <a:avLst>
              <a:gd name="adj" fmla="val 243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300–600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34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per Draft Red Herring Prospectus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490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these filings are reviewed manually: slow, inconsistent across analysts, and hard to audit back to the source page.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029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automate DRHP analysis and IPO valuation with every output linked to evidence.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17720" y="150876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2312" y="1664208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82312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6276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1305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DRHP PDF from SEBI / NSE / BSE filings and parse layout, tables and text.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83880" y="150876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48472" y="1664208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48472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16276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1305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section- and page-tagged chunks to find evidence for any question.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17720" y="30632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82312" y="3218688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82312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318211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normalize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36850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financial statements into a clean, unit-consistent JSON schema.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83880" y="30632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48472" y="3218688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48472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78240" y="318211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deterministically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36850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Ratios, validation checks, comparable-company valuation and DCF — no LLM arithmetic.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17720" y="461772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2312" y="4773168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82312" y="4773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212080" y="473659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&amp; recommend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52395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listing-price model + valuation modules produce a recommended price range.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183880" y="461772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48472" y="4773168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48472" y="4773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778240" y="473659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8366760" y="52395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and claim cites its source page; benchmarked against actual issue price and listing returns.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Underwriter · BFSI Capstone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build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7520" y="167335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17520" y="16733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Lewis et al. (2020)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84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5000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RAG architecture: retriever + generator conditioned on retrieved passages. Basis for the evidence-grounded answering layer.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15087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167335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66560" y="16733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Cheng et al. (2026)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984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for financial-report QA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35000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retrieve → rerank improves precision on long financial documents. Informs our retrieval stack for DRHPs.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0" y="15087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0" y="167335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0" y="16733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Dadopoulos et al. (2025)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1984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Metadata-driven chunking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235000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carry section / page / entity metadata for filtered retrieval. Directly shapes our section-aware chunking for DRHPs' inconsistent layouts.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17520" y="395935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017520" y="39593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3931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Katsafados et al. (2020)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270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 from prospectus text + financials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63600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textual features from prospectuses with financials improves IPO outcome prediction. Guides our feature design.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97680" y="37947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0" y="395935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66560" y="39593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4480560" y="3931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Singh et al.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480560" y="4270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ML-driven Indian IPO pricing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480560" y="463600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benchmark: ML models for Indian IPO pricing / listing performance. Our results are compared against this baseline.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046720" y="37947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0" y="3959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takeaway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43434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must be section- and page-aware with reranking; valuation must combine deterministic finance with ML trained only on pre-listing features.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Underwriter · BFSI Capstone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four owners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190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9385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6888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DRHP collection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text + tables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normalization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structured JSON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72968" y="3063240"/>
            <a:ext cx="192024" cy="274320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5544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17373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61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160520" y="17190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160520" y="19385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246888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Section-aware chunking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DB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evidence-grounded answers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07608" y="3063240"/>
            <a:ext cx="192024" cy="274320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5544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17373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17190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3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19385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engine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246888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engine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validation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Comparables + DCF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fundamental valuation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842248" y="3063240"/>
            <a:ext cx="192024" cy="274320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52560" y="15544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35440" y="17373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354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829800" y="17190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4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829800" y="19385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+ Agent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9235440" y="246888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IPO dataset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 + tools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Underwriter report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5193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54864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Financial health scorecard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971800" y="54864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Risk summary with citations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166360" y="54864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Comparable + DCF valuation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360920" y="54864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Predicted listing price / return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555480" y="54864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Recommended price range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Underwriter · BFSI Capstone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DRHP &amp; Dataset / Extraction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question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do we get reliable structured information out of hundreds of pages of DRHPs?”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19379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foundation — every downstream module depends on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503920" y="1737360"/>
            <a:ext cx="2926080" cy="2926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03920" y="173736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DRHP &amp; EXTRACTION · 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DRHP — and what we actually need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3736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727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page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84708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Issuer, issue size, fresh issue vs OFS, price band, BRLMs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737360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48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15727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84708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Company-, industry- and issue-specific risks (often 40+ pages)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737360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8388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0" y="15727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0" y="184708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size, growth, competitive landscape — peer discovery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487168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2761488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259689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Overview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287121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company does, moats, customers, capacity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2487168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2761488"/>
            <a:ext cx="365760" cy="36576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3484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937760" y="259689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Information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287121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Restated P&amp;L, balance sheet, cash flow (3 years)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2487168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83880" y="2761488"/>
            <a:ext cx="365760" cy="36576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8388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0" y="259689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MD&amp;A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0" y="287121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commentary on results, drivers, one-offs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3511296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3785616"/>
            <a:ext cx="365760" cy="36576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3785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188720" y="36210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Structure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188720" y="389534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Pre/post-issue share capital, ESOPs, dilution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297680" y="3511296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34840" y="3785616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434840" y="3785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937760" y="36210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Promoters &amp; Shareholding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4937760" y="389534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 holding, lock-in, group entities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046720" y="3511296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83880" y="3785616"/>
            <a:ext cx="365760" cy="36576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183880" y="3785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8686800" y="36210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Related-party transactions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8686800" y="389534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RPT volumes vs revenue — governance signal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48640" y="4535424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5800" y="4809744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85800" y="4809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1188720" y="46451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litigation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1188720" y="491947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cases against company, promoters, directors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297680" y="4535424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34840" y="4809744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434840" y="4809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4937760" y="46451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of the Issue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4937760" y="491947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proceeds: capex, debt repayment, GCP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8046720" y="4535424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183880" y="4809744"/>
            <a:ext cx="365760" cy="36576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183880" y="4809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8686800" y="46451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information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8686800" y="491947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policy and history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</a:t>
            </a: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our system actually need from each section?   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</a:t>
            </a: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metadata   </a:t>
            </a: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</a:t>
            </a: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feeds RAG   </a:t>
            </a:r>
            <a:r>
              <a:rPr lang="en-US" sz="1200" b="1" dirty="0">
                <a:solidFill>
                  <a:srgbClr val="A8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F</a:t>
            </a: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feeds financial engine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Underwriter · BFSI Capstone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DRHP &amp; EXTRACTION · 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DRHP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32004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— Public Issues filings section (dedicated DRHP listing)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— offer-document pages + XBRL link in issuer-document infrastructure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BSE — public issue documents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sample DRHPs across sectors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3566160" cy="2514600"/>
          </a:xfrm>
          <a:prstGeom prst="roundRect">
            <a:avLst>
              <a:gd name="adj" fmla="val 2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721608"/>
            <a:ext cx="3200400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drhps/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company_001.pdf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company_002.pdf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metadata.csv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extracted/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company_001.json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4630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metadata.csv — one row per DRHP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828800"/>
          <a:ext cx="722376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key; joins to RAG collection + IPO 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selection, sector-level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DRHP_date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Time-aware splits; market-condition lookup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issue_size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crore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characteristic 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fresh_issue / OFS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crore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of proceeds; dilution vs exit signal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SEBI_URL / NSE_URL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Provenance and re-download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listing_date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Aligns outcome with market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issue_price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for valuation modules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listing_price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Label: listing gain = listing / issue − 1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434840" y="51663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issue_price / listing_price are outcomes — stored here for evaluation, never fed to the model as inputs (see data-leakage slide).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Underwriter · BFSI Capstone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DRHP &amp; EXTRACTION · 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extraction bake-off — which tool handles DRHP tables?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31520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pipeline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Layout-aware; tables → structured; handles multi-page 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Heavier; newer ecosystem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candidate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PyMuPDF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text + block coordinates; robust on large PDFs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table semantics on its 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+ page mapping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pdfplumber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Character-level geometry; decent ruled 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on 500 pages; weak on borderless 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Targeted 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Lattice mode strong on ruled 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Ghostscript; fails on unruled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statements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Simple; Java-based table extraction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accurate on merged cells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comparison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 (Tesseract / cloud)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option for scanned pages /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 in digits; needs post-validation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 models (LayoutLM-style)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 headers, sections, reading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/ compute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46304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protocol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2011680"/>
            <a:ext cx="31089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10–15 pages from several issuers per tool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cell accuracy, merged-cell handling, multi-page continuation, run time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labels typed by hand for the restated financials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183880" y="361188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6"/>
          <p:cNvSpPr txBox="1"/>
          <p:nvPr/>
        </p:nvSpPr>
        <p:spPr>
          <a:xfrm>
            <a:off x="836676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assumption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4160520"/>
            <a:ext cx="31089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assume one library works for every issuer. Expect a router: layout model → table tool per page type → OCR fallback.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Underwriter · BFSI Capstone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DRHP &amp; EXTRACTION · 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normalization — one schema for every issuer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108960" cy="54864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“Revenue from Operations”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0" y="1828800"/>
            <a:ext cx="5486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40280"/>
            <a:ext cx="3108960" cy="54864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240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“Revenue from operations”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2514600"/>
            <a:ext cx="5486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926080"/>
            <a:ext cx="3108960" cy="54864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926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“Income from Operations”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0" y="3200400"/>
            <a:ext cx="5486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1828800"/>
            <a:ext cx="0" cy="137160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2514600"/>
            <a:ext cx="914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2359152"/>
            <a:ext cx="457200" cy="320040"/>
          </a:xfrm>
          <a:prstGeom prst="rightArrow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554480"/>
            <a:ext cx="2926080" cy="1965960"/>
          </a:xfrm>
          <a:prstGeom prst="roundRect">
            <a:avLst>
              <a:gd name="adj" fmla="val 27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1664208"/>
            <a:ext cx="256032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"revenue": 12500000000,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"unit": "INR",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"basis": "consolidated",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"fy": "FY2024",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"source_page": 214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7033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mapping: synonym dictionary + fuzzy match + LLM fallback for unseen labels, with human review of low-confidence maps.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16552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43434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43434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lakh → ₹ crore (÷100) · ₹ million → ₹ crore (÷10) · strip commas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60520" y="4416552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26280" y="43434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577840" y="43434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(1,234) parentheses → −1234 · dashes / NIL → 0 or null (decide per line)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5010912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4937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965960" y="4937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FY2023 / FY24 / 2023-24 → canonical FY2024; flag stub periods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60520" y="5010912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26280" y="4937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577840" y="4937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vs consolidated — store both, tag which one ratios use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5605272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5532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965960" y="5532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null + reason; never silently impute at extraction stage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60520" y="5605272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26280" y="5532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577840" y="5532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keeps page number and table id for citation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183880" y="1554480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36676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366760" y="21031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DRHP → structured financial JSON + document metadata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8366760" y="320040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years of P&amp;L, balance sheet, cash flow in one schema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Unit-consistent, sign-consistent, FY-canonical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Page-level provenance on every field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metadata.csv for all pilot DRHPs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accuracy report per tool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Underwriter · BFSI Capstone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/ NLP Engineer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question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does our AI understand and retrieve information from a 500-page DRHP?”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19379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retrieval system — turns a DRHP into a searchable, citable knowledge base.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503920" y="1737360"/>
            <a:ext cx="2926080" cy="2926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03920" y="173736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NLP · 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— the layout of a DRHP is the signal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675120" cy="676656"/>
          </a:xfrm>
          <a:prstGeom prst="roundRect">
            <a:avLst>
              <a:gd name="adj" fmla="val 8108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1463040"/>
            <a:ext cx="2103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tokens with overlap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1463040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baseline; splits tables and sections mid-way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249424"/>
            <a:ext cx="6675120" cy="676656"/>
          </a:xfrm>
          <a:prstGeom prst="roundRect">
            <a:avLst>
              <a:gd name="adj" fmla="val 8108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249424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2249424"/>
            <a:ext cx="2103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headings → paragraphs → sentences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249424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boundaries; still layout-blind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035808"/>
            <a:ext cx="6675120" cy="676656"/>
          </a:xfrm>
          <a:prstGeom prst="roundRect">
            <a:avLst>
              <a:gd name="adj" fmla="val 8108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035808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3035808"/>
            <a:ext cx="2103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where embedding similarity drops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3035808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chunks; costly; ignores page structure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822192"/>
            <a:ext cx="6675120" cy="676656"/>
          </a:xfrm>
          <a:prstGeom prst="roundRect">
            <a:avLst>
              <a:gd name="adj" fmla="val 81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822192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Section-aware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240280" y="3822192"/>
            <a:ext cx="2103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within detected DRHP sections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3822192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'Risk Factors' separate from 'Business'; enables filtering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608576"/>
            <a:ext cx="6675120" cy="676656"/>
          </a:xfrm>
          <a:prstGeom prst="roundRect">
            <a:avLst>
              <a:gd name="adj" fmla="val 81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608576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Table-aware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240280" y="4608576"/>
            <a:ext cx="2103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kept whole with caption + header row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4608576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broken financial tables in retrieval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44068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section-aware + page-aware (+ table-aware) chunking — each chunk stored with metadata, not as a bare string.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0" y="14630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 Chunk 1 · Chunk 2 · Chunk 3  → store: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89520" y="1828800"/>
            <a:ext cx="4069080" cy="233172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0" y="1938528"/>
            <a:ext cx="370332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"text": "...",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"page": 182,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"section": "Risk Factors",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"company": "ABC Ltd",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"document": "DRHP",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"chunk_type": "paragraph | table"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89520" y="4343400"/>
            <a:ext cx="4069080" cy="1645920"/>
          </a:xfrm>
          <a:prstGeom prst="roundRect">
            <a:avLst>
              <a:gd name="adj" fmla="val 4444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0" y="44805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metadata matters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0" y="4892040"/>
            <a:ext cx="3703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retrieval to a section (only Risk Factors)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page numbers in every answer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one company in a multi-DRHP collection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Underwriter · BFSI Capstone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NLP · 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 — turning chunks into searchable vectors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635252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508760"/>
            <a:ext cx="15255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DRHP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20468" y="1805940"/>
            <a:ext cx="182880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39924" y="1508760"/>
            <a:ext cx="1635252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94788" y="1508760"/>
            <a:ext cx="15255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+ pages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1752" y="1805940"/>
            <a:ext cx="182880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31208" y="1508760"/>
            <a:ext cx="1635252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6072" y="1508760"/>
            <a:ext cx="15255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+ metadata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03036" y="1805940"/>
            <a:ext cx="182880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22492" y="1508760"/>
            <a:ext cx="1635252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77356" y="1508760"/>
            <a:ext cx="15255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94320" y="1805940"/>
            <a:ext cx="182880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3776" y="1508760"/>
            <a:ext cx="1635252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68640" y="1508760"/>
            <a:ext cx="15255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785604" y="1805940"/>
            <a:ext cx="182880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05060" y="1508760"/>
            <a:ext cx="1635252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9924" y="1508760"/>
            <a:ext cx="15255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26060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embeddings are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3154680"/>
            <a:ext cx="320040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vector representing the meaning of a chunk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meaning → nearby vectors (cosine similarity)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is embedded with the same model and compared to all chunk vectors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'major risks' to match 'factors that may adversely affect our business'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15968" y="26060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98848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to compare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498848" y="3154680"/>
            <a:ext cx="320040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 (open, local)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bge / e5 / all-MiniLM families — free, private, fine-tunable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embeddings (hosted)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out of the box; cost + data-egress considerations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Financial-domain embeddings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FinBERT-style or fine-tuned on filings; test whether the domain gain is real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83296" y="26060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66176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decide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66176" y="3154680"/>
            <a:ext cx="320040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evaluation set for every model (see slide D)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Recall@5, MRR, latency, cost per 1k chunks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reranker (cross-encoder) on top-20 — literature shows large gains on financial QA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cheapest model that clears the recall bar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Underwriter · BFSI Capstone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NLP · 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database and retrieval — Qdrant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concepts to learn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384048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b="1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document set (e.g. drhp_chunks)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b="1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+ payload stored together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b="1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/ payload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company, section, page, chunk_type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b="1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top-K over the collection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b="1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== 'ABC Ltd' AND section == 'Risk Factors'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b="1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BM25 for exact terms (case numbers, ₹ figures)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0" y="1463040"/>
            <a:ext cx="662940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12080" y="14630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 </a:t>
            </a: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are the company's major risks?”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should find: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2651760"/>
            <a:ext cx="6629400" cy="45720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2651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182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509760" y="2807208"/>
            <a:ext cx="1747418" cy="14630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302898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3200400"/>
            <a:ext cx="6629400" cy="45720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1208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184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09760" y="3355848"/>
            <a:ext cx="1689811" cy="14630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245291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3749040"/>
            <a:ext cx="6629400" cy="45720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0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Litigation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3749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321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509760" y="3904488"/>
            <a:ext cx="1516990" cy="14630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07247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0" y="4297680"/>
            <a:ext cx="6629400" cy="45720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12080" y="4297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Risks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4297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190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509760" y="4453128"/>
            <a:ext cx="1478585" cy="14630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034065" y="4297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0" y="4937760"/>
            <a:ext cx="6629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shown are illustrative. Note the cross-section hits: risk is spread across Risk Factors, Litigation and Regulatory sections — retrieval must not be limited to one heading.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035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query → embed → Qdrant filtered top-20 → cross-encoder rerank → top-5 with page citations → LLM answer grounded only in those chunks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Underwriter · BFSI Capstone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NLP · 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evaluation — don't just say “RAG works”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331720" cy="1280160"/>
          </a:xfrm>
          <a:prstGeom prst="roundRect">
            <a:avLst>
              <a:gd name="adj" fmla="val 5714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5727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81051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Precision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148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retrieved chunks that are relevant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35808" y="1463040"/>
            <a:ext cx="2331720" cy="1280160"/>
          </a:xfrm>
          <a:prstGeom prst="roundRect">
            <a:avLst>
              <a:gd name="adj" fmla="val 5714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15727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181051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2148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expected page appear in top-K?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22976" y="1463040"/>
            <a:ext cx="2331720" cy="1280160"/>
          </a:xfrm>
          <a:prstGeom prst="roundRect">
            <a:avLst>
              <a:gd name="adj" fmla="val 5714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87568" y="15727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687568" y="181051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687568" y="2148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high did the first correct chunk rank?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233172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29900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32278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relevance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35661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retrieved context on-topic for the question?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035808" y="2880360"/>
            <a:ext cx="233172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00400" y="29900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0" y="32278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faithfulness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35661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every claim supported by the retrieved context?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22976" y="2880360"/>
            <a:ext cx="233172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87568" y="29900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687568" y="32278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accuracy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687568" y="35661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cited page actually contain the claim?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18388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dataset (built by hand, ~50–100 questions per pilot DRHP)</a:t>
            </a:r>
            <a:endParaRPr lang="en-US" sz="12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83880" y="1965960"/>
          <a:ext cx="347472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Retrieved 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risks?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Objects of the issue?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Promoter holding post-issue?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 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litigation amount?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818388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illustrative — the table format is the deliverable.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48640" y="4434840"/>
            <a:ext cx="11091672" cy="1554480"/>
          </a:xfrm>
          <a:prstGeom prst="roundRect">
            <a:avLst>
              <a:gd name="adj" fmla="val 4706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724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777240" y="4846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DRHP → searchable knowledge base → evidence-grounded answers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6035040" y="45720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collection per pilot DRHP with metadata-rich chunks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+ reranker API used by the agent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report: Recall@5, MRR, faithfulness, citation accuracy per embedding model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Underwriter · BFSI Capstone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Analysis &amp; Valuation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question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“Once we have reliable financial data, how do we determine the company's financial health and valuation?”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19379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finance / quant engine — deterministic ratios, validation, comparables and DCF.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503920" y="1737360"/>
            <a:ext cx="2926080" cy="2926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03920" y="173736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 · 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ratio engine — start with a carefully defined 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18488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18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58191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8483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margin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· ROA · ROCE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62272" y="1618488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62272" y="1618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58191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08483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ratio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ratio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ratio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11312" y="1618488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11312" y="1618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158191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08483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/ Equity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/ Assets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coverage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Debt / EBITDA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3858768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82219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32511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turnover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turnover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Receivables turnover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Payables turnover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conversion cycle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37033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62272" y="3858768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62272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82219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432511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cash flow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margin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/ Debt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/ Revenue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46720" y="37033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2062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functions over the normalized JSON — no LLM arithmetic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ratio has a written definition (numerator, denominator, period)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trend, not a single point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core ratios beats 30+ loosely defined ones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Underwriter · BFSI Capstone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 · 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 validation — the accounting identities catch extraction errors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76656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727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1051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Assets  ≈  Liabilities  +  Equity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₹1,000 Cr ≈ ₹400 Cr + ₹600 Cr  ✓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676656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807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0449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 −  Expenses  ≈  Profit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747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PBT − Tax ≈ PAT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676656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0416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27939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CFO + CFI + CFF  ≈  Δ Cash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70916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+ net change = closing cash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89520" y="1463040"/>
            <a:ext cx="4069080" cy="3611880"/>
          </a:xfrm>
          <a:prstGeom prst="roundRect">
            <a:avLst>
              <a:gd name="adj" fmla="val 2025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0" y="16002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beyond identities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2011680"/>
            <a:ext cx="3703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Sub-totals sum to totals within each statement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figure appears identically in P&amp;L, MD&amp;A summary and cover-page highlights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changes within plausible bounds (flag &gt;300% jumps)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consistent across statements (all ₹ crore)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vs consolidated not mixed in one ratio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count reconciles with capital-structure section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25780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 </a:t>
            </a: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mis-read table (a lakh/crore slip, a dropped minus sign, a shifted column) silently corrupts every ratio and valuation downstream. Failed checks route the document back to extraction with the page reference — tolerance ±1% for rounding.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Underwriter · BFSI Capstone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 · 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Comparable-company valuation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834640" cy="773582"/>
          </a:xfrm>
          <a:prstGeom prst="roundRect">
            <a:avLst>
              <a:gd name="adj" fmla="val 709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2651760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company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874520" y="2254910"/>
            <a:ext cx="182880" cy="128016"/>
          </a:xfrm>
          <a:prstGeom prst="down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401214"/>
            <a:ext cx="2834640" cy="773582"/>
          </a:xfrm>
          <a:prstGeom prst="roundRect">
            <a:avLst>
              <a:gd name="adj" fmla="val 709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401214"/>
            <a:ext cx="2651760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874520" y="3193085"/>
            <a:ext cx="182880" cy="128016"/>
          </a:xfrm>
          <a:prstGeom prst="down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339389"/>
            <a:ext cx="2834640" cy="773582"/>
          </a:xfrm>
          <a:prstGeom prst="roundRect">
            <a:avLst>
              <a:gd name="adj" fmla="val 709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339389"/>
            <a:ext cx="2651760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companies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874520" y="4131259"/>
            <a:ext cx="182880" cy="128016"/>
          </a:xfrm>
          <a:prstGeom prst="down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277563"/>
            <a:ext cx="2834640" cy="773582"/>
          </a:xfrm>
          <a:prstGeom prst="roundRect">
            <a:avLst>
              <a:gd name="adj" fmla="val 709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277563"/>
            <a:ext cx="2651760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 · EV/EBITDA · P/S · P/B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874520" y="5069434"/>
            <a:ext cx="182880" cy="128016"/>
          </a:xfrm>
          <a:prstGeom prst="down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215738"/>
            <a:ext cx="2834640" cy="773582"/>
          </a:xfrm>
          <a:prstGeom prst="roundRect">
            <a:avLst>
              <a:gd name="adj" fmla="val 7092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215738"/>
            <a:ext cx="2651760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valuation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794760" y="1463040"/>
            <a:ext cx="3794760" cy="1399032"/>
          </a:xfrm>
          <a:prstGeom prst="roundRect">
            <a:avLst>
              <a:gd name="adj" fmla="val 5229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77640" y="16002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select peers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977640" y="2011680"/>
            <a:ext cx="34290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from DRHP + DRHP's own 'listed peers' table; filter by size and business model; 5–10 names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0" y="1463040"/>
            <a:ext cx="3794760" cy="1399032"/>
          </a:xfrm>
          <a:prstGeom prst="roundRect">
            <a:avLst>
              <a:gd name="adj" fmla="val 5229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0" y="16002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multiples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2011680"/>
            <a:ext cx="34290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 for profitable firms; EV/EBITDA for capital-intensive; P/S for loss-making; P/B for financials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94760" y="2999232"/>
            <a:ext cx="3794760" cy="1399032"/>
          </a:xfrm>
          <a:prstGeom prst="roundRect">
            <a:avLst>
              <a:gd name="adj" fmla="val 5229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977640" y="313639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normalize multiples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977640" y="3547872"/>
            <a:ext cx="34290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vs forward; drop outliers; use median not mean; adjust for one-offs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0" y="2999232"/>
            <a:ext cx="3794760" cy="1399032"/>
          </a:xfrm>
          <a:prstGeom prst="roundRect">
            <a:avLst>
              <a:gd name="adj" fmla="val 5229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55280" y="313639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955280" y="3547872"/>
            <a:ext cx="34290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= market cap + debt + preference + minorities − cash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794760" y="4535424"/>
            <a:ext cx="3794760" cy="1399032"/>
          </a:xfrm>
          <a:prstGeom prst="roundRect">
            <a:avLst>
              <a:gd name="adj" fmla="val 5229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977640" y="467258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value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977640" y="5084064"/>
            <a:ext cx="34290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= implied EV − net debt (post-issue, incl. fresh-issue cash)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0" y="4535424"/>
            <a:ext cx="3794760" cy="1399032"/>
          </a:xfrm>
          <a:prstGeom prst="roundRect">
            <a:avLst>
              <a:gd name="adj" fmla="val 5229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55280" y="467258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outstanding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955280" y="5084064"/>
            <a:ext cx="34290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Post-issue share count = pre-issue + fresh-issue shares (OFS doesn't add shares)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794760" y="6080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implied value per share range (min–median–max across multiples) to compare against the DRHP price band.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Underwriter · BFSI Capstone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 · 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DCF — implemented after comparables are stable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412095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508760"/>
            <a:ext cx="13023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forecast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997311" y="1783080"/>
            <a:ext cx="128016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61903" y="1508760"/>
            <a:ext cx="1412095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16767" y="1508760"/>
            <a:ext cx="13023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10574" y="1783080"/>
            <a:ext cx="128016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75166" y="1508760"/>
            <a:ext cx="1412095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30030" y="1508760"/>
            <a:ext cx="13023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23837" y="1783080"/>
            <a:ext cx="128016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88429" y="1508760"/>
            <a:ext cx="1412095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43293" y="1508760"/>
            <a:ext cx="13023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37099" y="1783080"/>
            <a:ext cx="128016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01691" y="1508760"/>
            <a:ext cx="1412095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56555" y="1508760"/>
            <a:ext cx="13023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450362" y="1783080"/>
            <a:ext cx="128016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14954" y="1508760"/>
            <a:ext cx="1412095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69818" y="1508760"/>
            <a:ext cx="13023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063625" y="1783080"/>
            <a:ext cx="128016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28217" y="1508760"/>
            <a:ext cx="1412095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83081" y="1508760"/>
            <a:ext cx="13023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value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840480" y="2514600"/>
            <a:ext cx="1322832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95344" y="2514600"/>
            <a:ext cx="1213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199888" y="2766060"/>
            <a:ext cx="182880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19344" y="2514600"/>
            <a:ext cx="1322832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74208" y="2514600"/>
            <a:ext cx="1213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value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778752" y="2766060"/>
            <a:ext cx="182880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98208" y="2514600"/>
            <a:ext cx="1322832" cy="685800"/>
          </a:xfrm>
          <a:prstGeom prst="roundRect">
            <a:avLst>
              <a:gd name="adj" fmla="val 10667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053072" y="2514600"/>
            <a:ext cx="1213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/ share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3520440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from the DRHP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4069080"/>
            <a:ext cx="320040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restated financials (extraction module)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plans from Objects of the Issue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schedule and cost of debt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Post-issue share count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growth from Industry Overview (RAG)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315968" y="3520440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498848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to document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498848" y="4069080"/>
            <a:ext cx="320040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 (5 years) and growth path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convergence to peer median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WACC: CAPM cost of equity, India risk-free + ERP, peer beta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growth vs exit multiple (cross-check with comps)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table on WACC × terminal growth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083296" y="3520440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66176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66176" y="3977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data → ratios → financial health → fundamental valuation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8266176" y="48463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+ validation library with tests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scorecard (per family, 3-yr trend)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Comps + DCF value-per-share range vs price band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Underwriter · BFSI Capstone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+ Agent + System Integration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question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do we turn all these independent components into an AI Underwriter?”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19379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layer — prediction model, LangGraph agent, tool calling and final integration.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503920" y="1737360"/>
            <a:ext cx="2926080" cy="2926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03920" y="173736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AGENT · 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IPO dataset — the supervised-learning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1965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DRHP / listing date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35808" y="146304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18688" y="16002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 (pre-IPO)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218688" y="2011680"/>
            <a:ext cx="1965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growth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22976" y="146304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05856" y="16002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(from ratio engine)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705856" y="2011680"/>
            <a:ext cx="1965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ROCE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/ Equity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474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characteristics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886200"/>
            <a:ext cx="1965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size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vs OFS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price / band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Post-issue shares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35808" y="333756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18688" y="3474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conditions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218688" y="3886200"/>
            <a:ext cx="1965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return (pre-listing)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calendar crowding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(if pre-listing)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22976" y="333756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05856" y="3474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705856" y="3886200"/>
            <a:ext cx="1965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price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gain %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(later) 30-day return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83880" y="1463040"/>
            <a:ext cx="3474720" cy="361188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1691640"/>
            <a:ext cx="3017520" cy="665226"/>
          </a:xfrm>
          <a:prstGeom prst="roundRect">
            <a:avLst>
              <a:gd name="adj" fmla="val 824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03920" y="1691640"/>
            <a:ext cx="2834640" cy="665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(all known before listing)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829800" y="2375154"/>
            <a:ext cx="182880" cy="128016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2521458"/>
            <a:ext cx="3017520" cy="665226"/>
          </a:xfrm>
          <a:prstGeom prst="roundRect">
            <a:avLst>
              <a:gd name="adj" fmla="val 8247"/>
            </a:avLst>
          </a:prstGeom>
          <a:solidFill>
            <a:srgbClr val="2A3672"/>
          </a:solidFill>
          <a:ln w="12700">
            <a:solidFill>
              <a:srgbClr val="2A367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03920" y="2521458"/>
            <a:ext cx="2834640" cy="665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IPO data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829800" y="3204972"/>
            <a:ext cx="182880" cy="128016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0" y="3351276"/>
            <a:ext cx="3017520" cy="665226"/>
          </a:xfrm>
          <a:prstGeom prst="roundRect">
            <a:avLst>
              <a:gd name="adj" fmla="val 8247"/>
            </a:avLst>
          </a:prstGeom>
          <a:solidFill>
            <a:srgbClr val="2A3672"/>
          </a:solidFill>
          <a:ln w="12700">
            <a:solidFill>
              <a:srgbClr val="2A367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03920" y="3351276"/>
            <a:ext cx="2834640" cy="665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829800" y="4034790"/>
            <a:ext cx="182880" cy="128016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12480" y="4181094"/>
            <a:ext cx="3017520" cy="665226"/>
          </a:xfrm>
          <a:prstGeom prst="roundRect">
            <a:avLst>
              <a:gd name="adj" fmla="val 8247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503920" y="4181094"/>
            <a:ext cx="2834640" cy="665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price / return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3035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historical IPO. Features come from the same extraction + ratio code used on new DRHPs, so train and inference match.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183880" y="52120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SEBI/NSE/BSE filings + listing-day prices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Underwriter · BFSI Capstone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AGENT · 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models — baselines first, then gradient boosting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258214" cy="777240"/>
          </a:xfrm>
          <a:prstGeom prst="roundRect">
            <a:avLst>
              <a:gd name="adj" fmla="val 9412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508760"/>
            <a:ext cx="11484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843430" y="1805940"/>
            <a:ext cx="182880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62886" y="1508760"/>
            <a:ext cx="1258214" cy="777240"/>
          </a:xfrm>
          <a:prstGeom prst="roundRect">
            <a:avLst>
              <a:gd name="adj" fmla="val 9412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17750" y="1508760"/>
            <a:ext cx="11484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57677" y="1805940"/>
            <a:ext cx="182880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77133" y="1508760"/>
            <a:ext cx="1258214" cy="777240"/>
          </a:xfrm>
          <a:prstGeom prst="roundRect">
            <a:avLst>
              <a:gd name="adj" fmla="val 9412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31997" y="1508760"/>
            <a:ext cx="11484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71923" y="1805940"/>
            <a:ext cx="182880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91379" y="1508760"/>
            <a:ext cx="1258214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46243" y="1508760"/>
            <a:ext cx="11484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86170" y="1805940"/>
            <a:ext cx="182880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05626" y="1508760"/>
            <a:ext cx="1258214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60490" y="1508760"/>
            <a:ext cx="11484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331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07492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models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78892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28529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337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in ₹ or % gain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95728" y="278892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532888" y="28529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2532888" y="3337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large misses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42816" y="278892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79976" y="28529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4379976" y="3337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Scale-free % error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9904" y="278892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27064" y="28529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6227064" y="3337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split — never a random split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" y="4553712"/>
            <a:ext cx="43891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45537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37760" y="4553712"/>
            <a:ext cx="146304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937760" y="455371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0" y="4553712"/>
            <a:ext cx="1463040" cy="502920"/>
          </a:xfrm>
          <a:prstGeom prst="rect">
            <a:avLst/>
          </a:prstGeom>
          <a:solidFill>
            <a:srgbClr val="D9A4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0" y="455371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102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older IPOs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5577840" y="5102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IPOs →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440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/ expanding-window CV by listing date; report metrics on the held-out most-recent period only. Compare against Singh et al. as the benchmark.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183880" y="150876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36676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notes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8366760" y="2057400"/>
            <a:ext cx="310896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Small-N problem: Indian IPOs per year are few — regularize, keep features ≤ ~25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listing gain % (bounded, comparable) rather than raw price; derive price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 sizes and revenue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for feature importance → feeds the report's explanation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text features from Risk Factors (Katsafados et al.)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interval, not a point estimate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Underwriter · BFSI Capstone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AGENT · 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— LangGraph decides which tools to call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 </a:t>
            </a: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“Analyze this IPO.”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761488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606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retrieve_drhp()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51760" y="2578608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25786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72968" y="2857500"/>
            <a:ext cx="146304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251460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2761488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7472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2606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get_financials()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40680" y="2578608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40680" y="25786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61888" y="2857500"/>
            <a:ext cx="146304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251460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2761488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6364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2606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calculate_ratios()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0" y="2578608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0" y="25786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750808" y="2857500"/>
            <a:ext cx="146304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15400" y="251460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52560" y="2761488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05256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509760" y="2606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analyze_risks()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1018520" y="2578608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6A5ACD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018520" y="25786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8640" y="37033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3950208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" y="37947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find_peers()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651760" y="3767328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651760" y="37673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172968" y="4046220"/>
            <a:ext cx="146304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37560" y="37033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74720" y="3950208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474720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3931920" y="37947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calculate_valuation()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40680" y="3767328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440680" y="37673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961888" y="4046220"/>
            <a:ext cx="146304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26480" y="37033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63640" y="3950208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263640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720840" y="37947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predict_listing()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229600" y="3767328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229600" y="37673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750808" y="4046220"/>
            <a:ext cx="146304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915400" y="37033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52560" y="3950208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052560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9509760" y="37947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generate_report()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11018520" y="3767328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1018520" y="37673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800" dirty="0"/>
          </a:p>
        </p:txBody>
      </p:sp>
      <p:sp>
        <p:nvSpPr>
          <p:cNvPr id="60" name="Text 58"/>
          <p:cNvSpPr txBox="1"/>
          <p:nvPr/>
        </p:nvSpPr>
        <p:spPr>
          <a:xfrm>
            <a:off x="548640" y="4892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show which module each tool wraps.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48640" y="525780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31520" y="5394960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gives an explicit state graph: nodes = tools, edges = decisions (e.g. skip DCF if loss-making; re-run extraction if validation fails).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6217920" y="525780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400800" y="5394960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object carries: company, extracted JSON, ratios, retrieved evidence with pages, valuation range, prediction — so the report can cite everything.</a:t>
            </a:r>
            <a:endParaRPr lang="en-US" sz="1150" dirty="0"/>
          </a:p>
        </p:txBody>
      </p:sp>
      <p:sp>
        <p:nvSpPr>
          <p:cNvPr id="65" name="Text 63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Underwriter · BFSI Capstone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AGENT · 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calling and final integration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583680" cy="438912"/>
          </a:xfrm>
          <a:prstGeom prst="roundRect">
            <a:avLst>
              <a:gd name="adj" fmla="val 1041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search_drhp(query, section?)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46304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retriever + reranker; returns chunks with pages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975104"/>
            <a:ext cx="6583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97510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get_financial_data(company)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197510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financial JSON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87168"/>
            <a:ext cx="6583680" cy="438912"/>
          </a:xfrm>
          <a:prstGeom prst="roundRect">
            <a:avLst>
              <a:gd name="adj" fmla="val 1041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48716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calculate_ratio(name, fy)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48716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library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999232"/>
            <a:ext cx="6583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99923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get_peer_data(industry)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299923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set + multiples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511296"/>
            <a:ext cx="6583680" cy="438912"/>
          </a:xfrm>
          <a:prstGeom prst="roundRect">
            <a:avLst>
              <a:gd name="adj" fmla="val 1041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51129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calculate_comparable_valuation()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351129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Comparables engine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6583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0233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calculate_dcf(assumptions)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402336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module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535424"/>
            <a:ext cx="6583680" cy="438912"/>
          </a:xfrm>
          <a:prstGeom prst="roundRect">
            <a:avLst>
              <a:gd name="adj" fmla="val 1041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53542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predict_listing_price(features)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023360" y="453542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+ prediction interval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047488"/>
            <a:ext cx="6583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04748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generate_report()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023360" y="504748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markdown / PDF underwriter note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6235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make it an actual agent — not an LLM chatbot. The LLM plans and explains; the tools compute.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06640" y="1463040"/>
            <a:ext cx="4251960" cy="4617720"/>
          </a:xfrm>
          <a:prstGeom prst="roundRect">
            <a:avLst>
              <a:gd name="adj" fmla="val 172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35240" y="1965960"/>
            <a:ext cx="3794760" cy="532181"/>
          </a:xfrm>
          <a:prstGeom prst="roundRect">
            <a:avLst>
              <a:gd name="adj" fmla="val 10309"/>
            </a:avLst>
          </a:prstGeom>
          <a:solidFill>
            <a:srgbClr val="2A3672"/>
          </a:solidFill>
          <a:ln w="12700">
            <a:solidFill>
              <a:srgbClr val="2A367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26680" y="1965960"/>
            <a:ext cx="361188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441180" y="2516429"/>
            <a:ext cx="182880" cy="109728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35240" y="2644445"/>
            <a:ext cx="3794760" cy="532181"/>
          </a:xfrm>
          <a:prstGeom prst="roundRect">
            <a:avLst>
              <a:gd name="adj" fmla="val 10309"/>
            </a:avLst>
          </a:prstGeom>
          <a:solidFill>
            <a:srgbClr val="2A3672"/>
          </a:solidFill>
          <a:ln w="12700">
            <a:solidFill>
              <a:srgbClr val="2A367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26680" y="2644445"/>
            <a:ext cx="361188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441180" y="3194914"/>
            <a:ext cx="182880" cy="109728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35240" y="3322930"/>
            <a:ext cx="3794760" cy="532181"/>
          </a:xfrm>
          <a:prstGeom prst="roundRect">
            <a:avLst>
              <a:gd name="adj" fmla="val 10309"/>
            </a:avLst>
          </a:prstGeom>
          <a:solidFill>
            <a:srgbClr val="2A3672"/>
          </a:solidFill>
          <a:ln w="12700">
            <a:solidFill>
              <a:srgbClr val="2A367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726680" y="3322930"/>
            <a:ext cx="361188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441180" y="3873398"/>
            <a:ext cx="182880" cy="109728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35240" y="4001414"/>
            <a:ext cx="3794760" cy="532181"/>
          </a:xfrm>
          <a:prstGeom prst="roundRect">
            <a:avLst>
              <a:gd name="adj" fmla="val 10309"/>
            </a:avLst>
          </a:prstGeom>
          <a:solidFill>
            <a:srgbClr val="2A3672"/>
          </a:solidFill>
          <a:ln w="12700">
            <a:solidFill>
              <a:srgbClr val="2A367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26680" y="4001414"/>
            <a:ext cx="361188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441180" y="4551883"/>
            <a:ext cx="182880" cy="109728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35240" y="4679899"/>
            <a:ext cx="3794760" cy="532181"/>
          </a:xfrm>
          <a:prstGeom prst="roundRect">
            <a:avLst>
              <a:gd name="adj" fmla="val 10309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726680" y="4679899"/>
            <a:ext cx="361188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AI Underwriter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589520" y="534924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Contracts: JSON schemas between modules, agreed in week 1; each module ships with tests and a CLI.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Underwriter · BFSI Capstone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TEAM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TWO datasets, not one giant 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4617720"/>
          </a:xfrm>
          <a:prstGeom prst="roundRect">
            <a:avLst>
              <a:gd name="adj" fmla="val 198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1 — DRHP / RAG corpus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377440"/>
            <a:ext cx="85039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2104" y="2377440"/>
            <a:ext cx="74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DRHP PDF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64208" y="2560320"/>
            <a:ext cx="109728" cy="182880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10512" y="2377440"/>
            <a:ext cx="85039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65376" y="2377440"/>
            <a:ext cx="74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97480" y="2560320"/>
            <a:ext cx="109728" cy="182880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43784" y="2377440"/>
            <a:ext cx="85039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98648" y="2377440"/>
            <a:ext cx="74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30752" y="2560320"/>
            <a:ext cx="109728" cy="182880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77056" y="2377440"/>
            <a:ext cx="85039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31920" y="2377440"/>
            <a:ext cx="74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64024" y="2560320"/>
            <a:ext cx="109728" cy="182880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10328" y="2377440"/>
            <a:ext cx="85039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65192" y="2377440"/>
            <a:ext cx="74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answer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401568"/>
            <a:ext cx="4983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company do?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risks?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promoters?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competitive advantages?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objects of the issue?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669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by: extraction (collection) → RAG (chunking, vectors)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99632" y="1463040"/>
            <a:ext cx="5440680" cy="4617720"/>
          </a:xfrm>
          <a:prstGeom prst="roundRect">
            <a:avLst>
              <a:gd name="adj" fmla="val 198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28232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2 — Historical IPO table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428232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ML PREDICTION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28232" y="2377440"/>
            <a:ext cx="850392" cy="548640"/>
          </a:xfrm>
          <a:prstGeom prst="roundRect">
            <a:avLst>
              <a:gd name="adj" fmla="val 13333"/>
            </a:avLst>
          </a:prstGeom>
          <a:solidFill>
            <a:srgbClr val="2A3672"/>
          </a:solidFill>
          <a:ln w="12700">
            <a:solidFill>
              <a:srgbClr val="2A367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83096" y="2377440"/>
            <a:ext cx="74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15200" y="2560320"/>
            <a:ext cx="109728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61504" y="2377440"/>
            <a:ext cx="850392" cy="548640"/>
          </a:xfrm>
          <a:prstGeom prst="roundRect">
            <a:avLst>
              <a:gd name="adj" fmla="val 13333"/>
            </a:avLst>
          </a:prstGeom>
          <a:solidFill>
            <a:srgbClr val="2A3672"/>
          </a:solidFill>
          <a:ln w="12700">
            <a:solidFill>
              <a:srgbClr val="2A367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16368" y="2377440"/>
            <a:ext cx="74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Pre-IPO financials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348472" y="2560320"/>
            <a:ext cx="109728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94776" y="2377440"/>
            <a:ext cx="850392" cy="548640"/>
          </a:xfrm>
          <a:prstGeom prst="roundRect">
            <a:avLst>
              <a:gd name="adj" fmla="val 13333"/>
            </a:avLst>
          </a:prstGeom>
          <a:solidFill>
            <a:srgbClr val="2A3672"/>
          </a:solidFill>
          <a:ln w="12700">
            <a:solidFill>
              <a:srgbClr val="2A367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49640" y="2377440"/>
            <a:ext cx="74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+ industry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381744" y="2560320"/>
            <a:ext cx="109728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28048" y="2377440"/>
            <a:ext cx="850392" cy="548640"/>
          </a:xfrm>
          <a:prstGeom prst="roundRect">
            <a:avLst>
              <a:gd name="adj" fmla="val 13333"/>
            </a:avLst>
          </a:prstGeom>
          <a:solidFill>
            <a:srgbClr val="2A3672"/>
          </a:solidFill>
          <a:ln w="12700">
            <a:solidFill>
              <a:srgbClr val="2A367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582912" y="2377440"/>
            <a:ext cx="74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+ market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415016" y="2560320"/>
            <a:ext cx="109728" cy="1828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561320" y="2377440"/>
            <a:ext cx="850392" cy="548640"/>
          </a:xfrm>
          <a:prstGeom prst="roundRect">
            <a:avLst>
              <a:gd name="adj" fmla="val 13333"/>
            </a:avLst>
          </a:prstGeom>
          <a:solidFill>
            <a:srgbClr val="2A3672"/>
          </a:solidFill>
          <a:ln w="12700">
            <a:solidFill>
              <a:srgbClr val="2A367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616184" y="2377440"/>
            <a:ext cx="74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428232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answer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428232" y="3401568"/>
            <a:ext cx="4983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past IPO, features known before listing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computed by the ratio engine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issue price, listing price, listing gain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Time-ordered for leakage-free splits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6428232" y="5669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by: ML (schema, labels) with extraction + financial engine (features)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Underwriter · BFSI Capstone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TEAM · CRITICAL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 data leakage — only pre-listing information as features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we predict listing price. An impressive-looking model that used post-listing information doesn't work in reality.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3383280"/>
          </a:xfrm>
          <a:prstGeom prst="roundRect">
            <a:avLst>
              <a:gd name="adj" fmla="val 2703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4884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148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Allowed as features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8892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Restated financials and ratios from the DRHP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Industry, issue size, fresh/OFS split, price band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conditions up to the pricing date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features from Risk Factors / Business sections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Grey-market or subscription data only if timestamped before listing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965960"/>
            <a:ext cx="5440680" cy="3383280"/>
          </a:xfrm>
          <a:prstGeom prst="roundRect">
            <a:avLst>
              <a:gd name="adj" fmla="val 270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28232" y="2148840"/>
            <a:ext cx="457200" cy="4572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2823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022592" y="2148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Forbidden as features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73952" y="278892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Post-listing price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Day-1 return (that is the label)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Post-listing volume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Post-listing news or analyst notes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with a timestamp after the listing date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5486400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 </a:t>
            </a: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column carries an 'as-of' date; a leakage test asserts as-of ≤ listing date; splits are chronological; the test period is the most recent IPOs.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Underwriter · BFSI Capstone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Workstreams, interfaces and deliverables</a:t>
            </a:r>
            <a:endParaRPr lang="en-US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Workstream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&amp; build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to others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DRHP &amp; Extraction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DRHP dataset + metadata.csv; extraction bake-off; normalization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JSON schema; pilot DRHPs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financial JSON + metadata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/ NLP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Chunking; embeddings; Qdrant; retrieval + reranking; evaluation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search_drhp() API; chunk schema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Searchable knowledge base + grounded answers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 engine; validation; comparables; DCF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 + valuation functions; health scorecard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Ratios → health → fundamental valuation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+ Agent + Integration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IPO dataset; models; LangGraph agent; tools;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contracts; end-to-end pipeline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AI Underwriter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25780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39496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schemas: 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contracts for financials, chunks, tools — frozen early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297680" y="525780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80560" y="539496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first: 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eval set, ratio validation, time-aware ML splits before tuning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046720" y="525780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0" y="539496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Verifiability: 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links to a DRHP page — the product promise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Underwriter · BFSI Capstone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and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(RAG, reranking, metadata chunking, ML IPO pricing)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planning and module boundaries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split across four workstreams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15968" y="150876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44568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IMPLEMENTATION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44568" y="205740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pilot DRHPs across sectors from SEBI / NSE / BSE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JSON schemas between modules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bake-off + first normalized financials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collection + evaluation set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engine with validation tests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IPO table v1 + baseline model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150876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11896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KNOW IT WORKS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311896" y="205740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price range benchmarked against the actual issue price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 actual listing returns on the held-out recent period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Recall@5 and citation accuracy on the hand-built eval set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failed accounting-identity checks on shipped extractions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Underwriter · BFSI Capstone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UPDATE · OCTOBER 2026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we've done since the plan</a:t>
            </a:r>
            <a:endParaRPr lang="en-US" sz="3000" dirty="0"/>
          </a:p>
        </p:txBody>
      </p:sp>
      <p:sp>
        <p:nvSpPr>
          <p:cNvPr id="4" name="text-3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Underwriter · BFSI Capstone</a:t>
            </a:r>
            <a:endParaRPr lang="en-US" sz="900" dirty="0"/>
          </a:p>
        </p:txBody>
      </p:sp>
      <p:sp>
        <p:nvSpPr>
          <p:cNvPr id="5" name="text-4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card-5"/>
          <p:cNvSpPr/>
          <p:nvPr/>
        </p:nvSpPr>
        <p:spPr>
          <a:xfrm>
            <a:off x="548640" y="150876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2A3672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-6"/>
          <p:cNvSpPr txBox="1"/>
          <p:nvPr/>
        </p:nvSpPr>
        <p:spPr>
          <a:xfrm>
            <a:off x="77724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8" name="text-7"/>
          <p:cNvSpPr txBox="1"/>
          <p:nvPr/>
        </p:nvSpPr>
        <p:spPr>
          <a:xfrm>
            <a:off x="777240" y="205740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dataset: 10 listed IPOs downloaded from SEBI and verified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DRHP parser built and run on all 10 documents (4,922 pages)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tagged with its DRHP section and chapter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choice reviewed: rationale on slide 33</a:t>
            </a:r>
            <a:endParaRPr lang="en-US" sz="1300" dirty="0"/>
          </a:p>
        </p:txBody>
      </p:sp>
      <p:sp>
        <p:nvSpPr>
          <p:cNvPr id="9" name="card-8"/>
          <p:cNvSpPr/>
          <p:nvPr/>
        </p:nvSpPr>
        <p:spPr>
          <a:xfrm>
            <a:off x="4315968" y="150876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2A3672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-9"/>
          <p:cNvSpPr txBox="1"/>
          <p:nvPr/>
        </p:nvSpPr>
        <p:spPr>
          <a:xfrm>
            <a:off x="4544568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1" name="text-10"/>
          <p:cNvSpPr txBox="1"/>
          <p:nvPr/>
        </p:nvSpPr>
        <p:spPr>
          <a:xfrm>
            <a:off x="4544568" y="205740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extraction: restated financials, peer table, offer details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issue and listing prices from NSE / BSE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Hand-checked answer set for 2–3 pilot DRHPs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historical IPO table to 100–150 listings</a:t>
            </a:r>
            <a:endParaRPr lang="en-US" sz="1300" dirty="0"/>
          </a:p>
        </p:txBody>
      </p:sp>
      <p:sp>
        <p:nvSpPr>
          <p:cNvPr id="12" name="card-11"/>
          <p:cNvSpPr/>
          <p:nvPr/>
        </p:nvSpPr>
        <p:spPr>
          <a:xfrm>
            <a:off x="8083296" y="150876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-12"/>
          <p:cNvSpPr txBox="1"/>
          <p:nvPr/>
        </p:nvSpPr>
        <p:spPr>
          <a:xfrm>
            <a:off x="8311896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</a:t>
            </a:r>
            <a:endParaRPr lang="en-US" sz="1100" dirty="0"/>
          </a:p>
        </p:txBody>
      </p:sp>
      <p:sp>
        <p:nvSpPr>
          <p:cNvPr id="14" name="text-13"/>
          <p:cNvSpPr txBox="1"/>
          <p:nvPr/>
        </p:nvSpPr>
        <p:spPr>
          <a:xfrm>
            <a:off x="8311896" y="21031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5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IPOs in the pilot</a:t>
            </a:r>
            <a:endParaRPr lang="en-US" sz="1250" dirty="0"/>
          </a:p>
        </p:txBody>
      </p:sp>
      <p:sp>
        <p:nvSpPr>
          <p:cNvPr id="15" name="text-14"/>
          <p:cNvSpPr txBox="1"/>
          <p:nvPr/>
        </p:nvSpPr>
        <p:spPr>
          <a:xfrm>
            <a:off x="8311896" y="3337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4,922</a:t>
            </a:r>
            <a:endParaRPr lang="en-US" sz="125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parsed</a:t>
            </a:r>
            <a:endParaRPr lang="en-US" sz="1250" dirty="0"/>
          </a:p>
        </p:txBody>
      </p:sp>
      <p:sp>
        <p:nvSpPr>
          <p:cNvPr id="16" name="text-15"/>
          <p:cNvSpPr txBox="1"/>
          <p:nvPr/>
        </p:nvSpPr>
        <p:spPr>
          <a:xfrm>
            <a:off x="8311896" y="45720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358 / 358</a:t>
            </a:r>
            <a:endParaRPr lang="en-US" sz="125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located correctly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6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DRHP &amp; EXTRACTION · PROGRESS</a:t>
            </a:r>
            <a:endParaRPr lang="en-US" sz="1100" dirty="0"/>
          </a:p>
        </p:txBody>
      </p:sp>
      <p:sp>
        <p:nvSpPr>
          <p:cNvPr id="3" name="text-17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dataset: 10 listed IPOs from SEBI</a:t>
            </a:r>
            <a:endParaRPr lang="en-US" sz="3000" dirty="0"/>
          </a:p>
        </p:txBody>
      </p:sp>
      <p:sp>
        <p:nvSpPr>
          <p:cNvPr id="4" name="text-18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Underwriter · BFSI Capstone</a:t>
            </a:r>
            <a:endParaRPr lang="en-US" sz="900" dirty="0"/>
          </a:p>
        </p:txBody>
      </p:sp>
      <p:sp>
        <p:nvSpPr>
          <p:cNvPr id="5" name="text-19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graphicFrame>
        <p:nvGraphicFramePr>
          <p:cNvPr id="3" name="table-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7665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651760"/>
                <a:gridCol w="82296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 Technologies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/ engineering services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DRHP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Mankind Pharma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Pharma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DRHP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JSW Infrastructure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Ports / infrastructure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DRHP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Bajaj Housing Finance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Housing finance (NBFC)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DRHP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IREDA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PSU financier (renewables)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DRHP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Hyundai Motor India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Automobiles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DRHP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Honasa Consumer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/ D2C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DRHP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DOMS Industries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Manufacturing / stationery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DRHP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Premier Energies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manufacturing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A8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Unicommerce eSolutions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/ e-commerce tech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DRHP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5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7" name="text-21"/>
          <p:cNvSpPr txBox="1"/>
          <p:nvPr/>
        </p:nvSpPr>
        <p:spPr>
          <a:xfrm>
            <a:off x="548640" y="56235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Energies' DRHP is not indexed on SEBI, so its RHP is used. Ola Electric was dropped: its DRHP could not be found.</a:t>
            </a:r>
            <a:endParaRPr lang="en-US" sz="1100" dirty="0"/>
          </a:p>
        </p:txBody>
      </p:sp>
      <p:sp>
        <p:nvSpPr>
          <p:cNvPr id="8" name="card-22"/>
          <p:cNvSpPr/>
          <p:nvPr/>
        </p:nvSpPr>
        <p:spPr>
          <a:xfrm>
            <a:off x="7680960" y="1508760"/>
            <a:ext cx="3959352" cy="2240280"/>
          </a:xfrm>
          <a:prstGeom prst="roundRect">
            <a:avLst>
              <a:gd name="adj" fmla="val 40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-23"/>
          <p:cNvSpPr txBox="1"/>
          <p:nvPr/>
        </p:nvSpPr>
        <p:spPr>
          <a:xfrm>
            <a:off x="7909560" y="1691640"/>
            <a:ext cx="3520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collected it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Public Issues filings → filing page → embedded PDF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checked: PDF header, page count, cover date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blocks scripted search, so filing pages were found by web search</a:t>
            </a:r>
            <a:endParaRPr lang="en-US" sz="1250" dirty="0"/>
          </a:p>
        </p:txBody>
      </p:sp>
      <p:sp>
        <p:nvSpPr>
          <p:cNvPr id="10" name="card-24"/>
          <p:cNvSpPr/>
          <p:nvPr/>
        </p:nvSpPr>
        <p:spPr>
          <a:xfrm>
            <a:off x="7680960" y="3931920"/>
            <a:ext cx="3959352" cy="2148840"/>
          </a:xfrm>
          <a:prstGeom prst="roundRect">
            <a:avLst>
              <a:gd name="adj" fmla="val 4255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1" name="text-25"/>
          <p:cNvSpPr txBox="1"/>
          <p:nvPr/>
        </p:nvSpPr>
        <p:spPr>
          <a:xfrm>
            <a:off x="7909560" y="4114800"/>
            <a:ext cx="3520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rules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Mainboard only, all already listed (needed for the price benchmark)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strong and weak listing-day performers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finance companies: Bajaj Housing and IREDA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data/raw/drhp/ with data/manifest.csv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6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DRHP &amp; EXTRACTION · PROGRESS</a:t>
            </a:r>
            <a:endParaRPr lang="en-US" sz="1100" dirty="0"/>
          </a:p>
        </p:txBody>
      </p:sp>
      <p:sp>
        <p:nvSpPr>
          <p:cNvPr id="3" name="text-27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Parser: every page tagged with its DRHP section</a:t>
            </a:r>
            <a:endParaRPr lang="en-US" sz="3000" dirty="0"/>
          </a:p>
        </p:txBody>
      </p:sp>
      <p:sp>
        <p:nvSpPr>
          <p:cNvPr id="4" name="text-28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Underwriter · BFSI Capstone</a:t>
            </a:r>
            <a:endParaRPr lang="en-US" sz="900" dirty="0"/>
          </a:p>
        </p:txBody>
      </p:sp>
      <p:sp>
        <p:nvSpPr>
          <p:cNvPr id="5" name="text-29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6" name="chip-30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-31"/>
          <p:cNvSpPr txBox="1"/>
          <p:nvPr/>
        </p:nvSpPr>
        <p:spPr>
          <a:xfrm>
            <a:off x="1097280" y="150876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table of contents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fixes the section order, so every DRHP lists its chapters with printed page numbers. PDF bookmarks were missing or unreliable.</a:t>
            </a:r>
            <a:endParaRPr lang="en-US" sz="1250" dirty="0"/>
          </a:p>
        </p:txBody>
      </p:sp>
      <p:sp>
        <p:nvSpPr>
          <p:cNvPr id="8" name="chip-32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-33"/>
          <p:cNvSpPr txBox="1"/>
          <p:nvPr/>
        </p:nvSpPr>
        <p:spPr>
          <a:xfrm>
            <a:off x="1097280" y="237744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printed pages to PDF pages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number printed on each page; the most common offset wins.</a:t>
            </a:r>
            <a:endParaRPr lang="en-US" sz="1250" dirty="0"/>
          </a:p>
        </p:txBody>
      </p:sp>
      <p:sp>
        <p:nvSpPr>
          <p:cNvPr id="10" name="chip-34"/>
          <p:cNvSpPr/>
          <p:nvPr/>
        </p:nvSpPr>
        <p:spPr>
          <a:xfrm>
            <a:off x="548640" y="32918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-35"/>
          <p:cNvSpPr txBox="1"/>
          <p:nvPr/>
        </p:nvSpPr>
        <p:spPr>
          <a:xfrm>
            <a:off x="1097280" y="324612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every page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Section, chapter and a standard key (e.g. basis_for_offer_price) so naming differences between issuers don't matter.</a:t>
            </a:r>
            <a:endParaRPr lang="en-US" sz="1250" dirty="0"/>
          </a:p>
        </p:txBody>
      </p:sp>
      <p:sp>
        <p:nvSpPr>
          <p:cNvPr id="12" name="chip-36"/>
          <p:cNvSpPr/>
          <p:nvPr/>
        </p:nvSpPr>
        <p:spPr>
          <a:xfrm>
            <a:off x="548640" y="416052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-37"/>
          <p:cNvSpPr txBox="1"/>
          <p:nvPr/>
        </p:nvSpPr>
        <p:spPr>
          <a:xfrm>
            <a:off x="1097280" y="41148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each chapter title appears on the page it was mapped to.</a:t>
            </a:r>
            <a:endParaRPr lang="en-US" sz="1250" dirty="0"/>
          </a:p>
        </p:txBody>
      </p:sp>
      <p:sp>
        <p:nvSpPr>
          <p:cNvPr id="14" name="card-38"/>
          <p:cNvSpPr/>
          <p:nvPr/>
        </p:nvSpPr>
        <p:spPr>
          <a:xfrm>
            <a:off x="7680960" y="1508760"/>
            <a:ext cx="3959352" cy="1051560"/>
          </a:xfrm>
          <a:prstGeom prst="roundRect">
            <a:avLst>
              <a:gd name="adj" fmla="val 8696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5" name="text-39"/>
          <p:cNvSpPr txBox="1"/>
          <p:nvPr/>
        </p:nvSpPr>
        <p:spPr>
          <a:xfrm>
            <a:off x="7863840" y="16002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358 / 358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found on their mapped start page</a:t>
            </a:r>
            <a:endParaRPr lang="en-US" sz="1250" dirty="0"/>
          </a:p>
        </p:txBody>
      </p:sp>
      <p:sp>
        <p:nvSpPr>
          <p:cNvPr id="16" name="card-40"/>
          <p:cNvSpPr/>
          <p:nvPr/>
        </p:nvSpPr>
        <p:spPr>
          <a:xfrm>
            <a:off x="7680960" y="2697480"/>
            <a:ext cx="3959352" cy="1051560"/>
          </a:xfrm>
          <a:prstGeom prst="roundRect">
            <a:avLst>
              <a:gd name="adj" fmla="val 8696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7" name="text-41"/>
          <p:cNvSpPr txBox="1"/>
          <p:nvPr/>
        </p:nvSpPr>
        <p:spPr>
          <a:xfrm>
            <a:off x="7863840" y="27889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96–100%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page-number agreement in every document</a:t>
            </a:r>
            <a:endParaRPr lang="en-US" sz="1250" dirty="0"/>
          </a:p>
        </p:txBody>
      </p:sp>
      <p:sp>
        <p:nvSpPr>
          <p:cNvPr id="18" name="card-42"/>
          <p:cNvSpPr/>
          <p:nvPr/>
        </p:nvSpPr>
        <p:spPr>
          <a:xfrm>
            <a:off x="7680960" y="3886200"/>
            <a:ext cx="3959352" cy="1051560"/>
          </a:xfrm>
          <a:prstGeom prst="roundRect">
            <a:avLst>
              <a:gd name="adj" fmla="val 8696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9" name="text-43"/>
          <p:cNvSpPr txBox="1"/>
          <p:nvPr/>
        </p:nvSpPr>
        <p:spPr>
          <a:xfrm>
            <a:off x="7863840" y="39776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chapters found in every document: Risk Factors, Objects, Basis for Offer Price, Business, Restated Financials, MD&amp;A</a:t>
            </a:r>
            <a:endParaRPr lang="en-US" sz="1250" dirty="0"/>
          </a:p>
        </p:txBody>
      </p:sp>
      <p:sp>
        <p:nvSpPr>
          <p:cNvPr id="20" name="text-44"/>
          <p:cNvSpPr txBox="1"/>
          <p:nvPr/>
        </p:nvSpPr>
        <p:spPr>
          <a:xfrm>
            <a:off x="548640" y="5257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per document: </a:t>
            </a:r>
            <a:pPr indent="0" marL="0">
              <a:buNone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pages.jsonl (one record per page) and sections.json (chapter map), in data/processed/. Code: src/parse_drhp.py, built on PyMuPDF in its 'text + page mapping' role from the slide 8 bake-off.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45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DRHP &amp; EXTRACTION · NEXT</a:t>
            </a:r>
            <a:endParaRPr lang="en-US" sz="1100" dirty="0"/>
          </a:p>
        </p:txBody>
      </p:sp>
      <p:sp>
        <p:nvSpPr>
          <p:cNvPr id="3" name="text-46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parsing taught us, and what comes next</a:t>
            </a:r>
            <a:endParaRPr lang="en-US" sz="3000" dirty="0"/>
          </a:p>
        </p:txBody>
      </p:sp>
      <p:sp>
        <p:nvSpPr>
          <p:cNvPr id="4" name="text-47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Underwriter · BFSI Capstone</a:t>
            </a:r>
            <a:endParaRPr lang="en-US" sz="900" dirty="0"/>
          </a:p>
        </p:txBody>
      </p:sp>
      <p:sp>
        <p:nvSpPr>
          <p:cNvPr id="5" name="text-48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text-49"/>
          <p:cNvSpPr txBox="1"/>
          <p:nvPr/>
        </p:nvSpPr>
        <p:spPr>
          <a:xfrm>
            <a:off x="548640" y="1508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found</a:t>
            </a:r>
            <a:endParaRPr lang="en-US" sz="1400" dirty="0"/>
          </a:p>
        </p:txBody>
      </p:sp>
      <p:sp>
        <p:nvSpPr>
          <p:cNvPr id="7" name="card-50"/>
          <p:cNvSpPr/>
          <p:nvPr/>
        </p:nvSpPr>
        <p:spPr>
          <a:xfrm>
            <a:off x="548640" y="1920240"/>
            <a:ext cx="6766560" cy="1234440"/>
          </a:xfrm>
          <a:prstGeom prst="roundRect">
            <a:avLst>
              <a:gd name="adj" fmla="val 740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pill-51"/>
          <p:cNvSpPr/>
          <p:nvPr/>
        </p:nvSpPr>
        <p:spPr>
          <a:xfrm>
            <a:off x="731520" y="2331720"/>
            <a:ext cx="777240" cy="365760"/>
          </a:xfrm>
          <a:prstGeom prst="roundRect">
            <a:avLst>
              <a:gd name="adj" fmla="val 30000"/>
            </a:avLst>
          </a:prstGeom>
          <a:solidFill>
            <a:srgbClr val="1C7293"/>
          </a:solidFill>
          <a:ln w="12700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100" dirty="0"/>
          </a:p>
        </p:txBody>
      </p:sp>
      <p:sp>
        <p:nvSpPr>
          <p:cNvPr id="9" name="text-52"/>
          <p:cNvSpPr txBox="1"/>
          <p:nvPr/>
        </p:nvSpPr>
        <p:spPr>
          <a:xfrm>
            <a:off x="1691640" y="205740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Mankind's MD&amp;A chapter was missed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 line used only two dots and a garbled apostrophe; parser now accepts both</a:t>
            </a:r>
            <a:endParaRPr lang="en-US" sz="1250" dirty="0"/>
          </a:p>
        </p:txBody>
      </p:sp>
      <p:sp>
        <p:nvSpPr>
          <p:cNvPr id="10" name="card-53"/>
          <p:cNvSpPr/>
          <p:nvPr/>
        </p:nvSpPr>
        <p:spPr>
          <a:xfrm>
            <a:off x="548640" y="3291840"/>
            <a:ext cx="6766560" cy="1234440"/>
          </a:xfrm>
          <a:prstGeom prst="roundRect">
            <a:avLst>
              <a:gd name="adj" fmla="val 740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1" name="pill-54"/>
          <p:cNvSpPr/>
          <p:nvPr/>
        </p:nvSpPr>
        <p:spPr>
          <a:xfrm>
            <a:off x="731520" y="3703320"/>
            <a:ext cx="777240" cy="365760"/>
          </a:xfrm>
          <a:prstGeom prst="roundRect">
            <a:avLst>
              <a:gd name="adj" fmla="val 30000"/>
            </a:avLst>
          </a:prstGeom>
          <a:solidFill>
            <a:srgbClr val="1C7293"/>
          </a:solidFill>
          <a:ln w="12700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100" dirty="0"/>
          </a:p>
        </p:txBody>
      </p:sp>
      <p:sp>
        <p:nvSpPr>
          <p:cNvPr id="12" name="text-55"/>
          <p:cNvSpPr txBox="1"/>
          <p:nvPr/>
        </p:nvSpPr>
        <p:spPr>
          <a:xfrm>
            <a:off x="1691640" y="342900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'Other financial information' mislabelled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pattern matched first; specific chapter patterns are now checked first</a:t>
            </a:r>
            <a:endParaRPr lang="en-US" sz="1250" dirty="0"/>
          </a:p>
        </p:txBody>
      </p:sp>
      <p:sp>
        <p:nvSpPr>
          <p:cNvPr id="13" name="card-56"/>
          <p:cNvSpPr/>
          <p:nvPr/>
        </p:nvSpPr>
        <p:spPr>
          <a:xfrm>
            <a:off x="548640" y="4663440"/>
            <a:ext cx="6766560" cy="1234440"/>
          </a:xfrm>
          <a:prstGeom prst="roundRect">
            <a:avLst>
              <a:gd name="adj" fmla="val 740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4" name="pill-57"/>
          <p:cNvSpPr/>
          <p:nvPr/>
        </p:nvSpPr>
        <p:spPr>
          <a:xfrm>
            <a:off x="731520" y="5074920"/>
            <a:ext cx="777240" cy="365760"/>
          </a:xfrm>
          <a:prstGeom prst="roundRect">
            <a:avLst>
              <a:gd name="adj" fmla="val 30000"/>
            </a:avLst>
          </a:prstGeom>
          <a:solidFill>
            <a:srgbClr val="D9A441"/>
          </a:solidFill>
          <a:ln w="12700">
            <a:solidFill>
              <a:srgbClr val="D9A4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00" dirty="0"/>
          </a:p>
        </p:txBody>
      </p:sp>
      <p:sp>
        <p:nvSpPr>
          <p:cNvPr id="15" name="text-58"/>
          <p:cNvSpPr txBox="1"/>
          <p:nvPr/>
        </p:nvSpPr>
        <p:spPr>
          <a:xfrm>
            <a:off x="1691640" y="480060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Energies pp. 334–338 are scanned images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Auditor's report has no text layer: OCR fallback later. The statements from p. 339 are text</a:t>
            </a:r>
            <a:endParaRPr lang="en-US" sz="1250" dirty="0"/>
          </a:p>
        </p:txBody>
      </p:sp>
      <p:sp>
        <p:nvSpPr>
          <p:cNvPr id="16" name="card-59"/>
          <p:cNvSpPr/>
          <p:nvPr/>
        </p:nvSpPr>
        <p:spPr>
          <a:xfrm>
            <a:off x="7680960" y="1508760"/>
            <a:ext cx="3959352" cy="4572000"/>
          </a:xfrm>
          <a:prstGeom prst="roundRect">
            <a:avLst>
              <a:gd name="adj" fmla="val 23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-60"/>
          <p:cNvSpPr txBox="1"/>
          <p:nvPr/>
        </p:nvSpPr>
        <p:spPr>
          <a:xfrm>
            <a:off x="7909560" y="1691640"/>
            <a:ext cx="35204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table extraction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pull out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Restated P&amp;L, balance sheet, cash flow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table from Basis for Offer Price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size, fresh issue vs OFS</a:t>
            </a:r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map picks the pages: no 500-page scans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the slide 9 JSON schema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checks from slide 17 catch misreads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NBFC line items (Bajaj, IREDA) mapped separately</a:t>
            </a:r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task: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hand-check ~10 figures for 2–3 companies, with page numbers.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61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AGENT · RATIONALE</a:t>
            </a:r>
            <a:endParaRPr lang="en-US" sz="1100" dirty="0"/>
          </a:p>
        </p:txBody>
      </p:sp>
      <p:sp>
        <p:nvSpPr>
          <p:cNvPr id="3" name="text-62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gradient boosting is our main model</a:t>
            </a:r>
            <a:endParaRPr lang="en-US" sz="3000" dirty="0"/>
          </a:p>
        </p:txBody>
      </p:sp>
      <p:sp>
        <p:nvSpPr>
          <p:cNvPr id="4" name="text-63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Underwriter · BFSI Capstone</a:t>
            </a:r>
            <a:endParaRPr lang="en-US" sz="900" dirty="0"/>
          </a:p>
        </p:txBody>
      </p:sp>
      <p:sp>
        <p:nvSpPr>
          <p:cNvPr id="5" name="text-64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6" name="card-65"/>
          <p:cNvSpPr/>
          <p:nvPr/>
        </p:nvSpPr>
        <p:spPr>
          <a:xfrm>
            <a:off x="548640" y="15087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7" name="chip-66"/>
          <p:cNvSpPr/>
          <p:nvPr/>
        </p:nvSpPr>
        <p:spPr>
          <a:xfrm>
            <a:off x="777240" y="173736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-67"/>
          <p:cNvSpPr txBox="1"/>
          <p:nvPr/>
        </p:nvSpPr>
        <p:spPr>
          <a:xfrm>
            <a:off x="777240" y="224028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small tabular data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have ~100–150 rows of numeric features. On data like this, boosted trees consistently beat neural networks, which need far more rows.</a:t>
            </a:r>
            <a:endParaRPr lang="en-US" sz="1250" dirty="0"/>
          </a:p>
        </p:txBody>
      </p:sp>
      <p:sp>
        <p:nvSpPr>
          <p:cNvPr id="9" name="card-68"/>
          <p:cNvSpPr/>
          <p:nvPr/>
        </p:nvSpPr>
        <p:spPr>
          <a:xfrm>
            <a:off x="4160520" y="15087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0" name="chip-69"/>
          <p:cNvSpPr/>
          <p:nvPr/>
        </p:nvSpPr>
        <p:spPr>
          <a:xfrm>
            <a:off x="4389120" y="173736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-70"/>
          <p:cNvSpPr txBox="1"/>
          <p:nvPr/>
        </p:nvSpPr>
        <p:spPr>
          <a:xfrm>
            <a:off x="4389120" y="224028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interactions on its own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issue P/E may only hurt when peers trade lower, or in a cold market. Trees find such effects without us hand-coding them.</a:t>
            </a:r>
            <a:endParaRPr lang="en-US" sz="1250" dirty="0"/>
          </a:p>
        </p:txBody>
      </p:sp>
      <p:sp>
        <p:nvSpPr>
          <p:cNvPr id="12" name="card-71"/>
          <p:cNvSpPr/>
          <p:nvPr/>
        </p:nvSpPr>
        <p:spPr>
          <a:xfrm>
            <a:off x="548640" y="38404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3" name="chip-72"/>
          <p:cNvSpPr/>
          <p:nvPr/>
        </p:nvSpPr>
        <p:spPr>
          <a:xfrm>
            <a:off x="777240" y="40690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-73"/>
          <p:cNvSpPr txBox="1"/>
          <p:nvPr/>
        </p:nvSpPr>
        <p:spPr>
          <a:xfrm>
            <a:off x="777240" y="457200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by design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split each prediction into feature contributions: the 'why' an underwriter report must show.</a:t>
            </a:r>
            <a:endParaRPr lang="en-US" sz="1250" dirty="0"/>
          </a:p>
        </p:txBody>
      </p:sp>
      <p:sp>
        <p:nvSpPr>
          <p:cNvPr id="15" name="card-74"/>
          <p:cNvSpPr/>
          <p:nvPr/>
        </p:nvSpPr>
        <p:spPr>
          <a:xfrm>
            <a:off x="4160520" y="38404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6" name="chip-75"/>
          <p:cNvSpPr/>
          <p:nvPr/>
        </p:nvSpPr>
        <p:spPr>
          <a:xfrm>
            <a:off x="4389120" y="40690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-76"/>
          <p:cNvSpPr txBox="1"/>
          <p:nvPr/>
        </p:nvSpPr>
        <p:spPr>
          <a:xfrm>
            <a:off x="4389120" y="457200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to train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missing values and sector categories; depth limits and early stopping keep it from memorising a small dataset.</a:t>
            </a:r>
            <a:endParaRPr lang="en-US" sz="1250" dirty="0"/>
          </a:p>
        </p:txBody>
      </p:sp>
      <p:sp>
        <p:nvSpPr>
          <p:cNvPr id="18" name="card-77"/>
          <p:cNvSpPr/>
          <p:nvPr/>
        </p:nvSpPr>
        <p:spPr>
          <a:xfrm>
            <a:off x="7863840" y="1508760"/>
            <a:ext cx="3776472" cy="4480560"/>
          </a:xfrm>
          <a:prstGeom prst="roundRect">
            <a:avLst>
              <a:gd name="adj" fmla="val 2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-78"/>
          <p:cNvSpPr txBox="1"/>
          <p:nvPr/>
        </p:nvSpPr>
        <p:spPr>
          <a:xfrm>
            <a:off x="8092440" y="1691640"/>
            <a:ext cx="33375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is the bar: if boosting doesn't beat it on the held-out period, we report ridge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trees, early stopping, ≤ ~25 features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split from slide 22, never random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ruled out: too few IPOs to train one</a:t>
            </a:r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1F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listing-day gain %, as on slide 22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4107</Words>
  <Application>Microsoft Office PowerPoint</Application>
  <PresentationFormat>Widescreen</PresentationFormat>
  <Paragraphs>810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Underwriter — DRHP Analysis &amp; IPO Valuation</dc:title>
  <dc:subject>PptxGenJS Presentation</dc:subject>
  <dc:creator>PptxGenJS</dc:creator>
  <cp:lastModifiedBy>Allen Varghese</cp:lastModifiedBy>
  <cp:revision>1</cp:revision>
  <dcterms:created xsi:type="dcterms:W3CDTF">2026-09-22T10:45:13Z</dcterms:created>
  <dcterms:modified xsi:type="dcterms:W3CDTF">2026-10-12T09:58:52Z</dcterms:modified>
</cp:coreProperties>
</file>