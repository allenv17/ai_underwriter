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9a304f61-a4f1-ea02-a295-6b540a9b4267}">
          <p14:sldIdLst>
            <p14:sldId id="256"/>
            <p14:sldId id="257"/>
          </p14:sldIdLst>
        </p14:section>
        <p14:section name="Data collection" id="{de0dd4fd-a988-e14a-0a80-98a881f29597}">
          <p14:sldIdLst>
            <p14:sldId id="258"/>
            <p14:sldId id="259"/>
            <p14:sldId id="260"/>
            <p14:sldId id="261"/>
            <p14:sldId id="262"/>
          </p14:sldIdLst>
        </p14:section>
        <p14:section name="Parsing" id="{43b1a90a-e92a-ef07-1328-9b9bf68edc47}">
          <p14:sldIdLst>
            <p14:sldId id="263"/>
            <p14:sldId id="264"/>
            <p14:sldId id="265"/>
            <p14:sldId id="266"/>
          </p14:sldIdLst>
        </p14:section>
        <p14:section name="Next steps" id="{a965891d-5a10-0013-b605-2070b0fc9ac1}">
          <p14:sldIdLst>
            <p14:sldId id="267"/>
            <p14:sldId id="268"/>
          </p14:sldIdLst>
        </p14:section>
        <p14:section name="ML model" id="{edf5f8f0-38de-633b-e579-27fd7c531817}">
          <p14:sldIdLst>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2"/>
                </a:solidFill>
                <a:latin typeface="+mn-lt"/>
              </a:defRPr>
            </a:pPr>
            <a:r>
              <a:rPr sz="1200" b="0" i="0" u="none" strike="noStrike">
                <a:solidFill>
                  <a:schemeClr val="tx2"/>
                </a:solidFill>
                <a:latin typeface="+mn-lt"/>
              </a:rPr>
              <a:t>Pages per document</a:t>
            </a:r>
          </a:p>
        </c:rich>
      </c:tx>
      <c:layout/>
      <c:overlay val="0"/>
    </c:title>
    <c:autoTitleDeleted val="0"/>
    <c:plotArea>
      <c:layout/>
      <c:barChart>
        <c:barDir val="bar"/>
        <c:grouping val="clustered"/>
        <c:varyColors val="0"/>
        <c:ser>
          <c:idx val="0"/>
          <c:order val="0"/>
          <c:tx>
            <c:strRef>
              <c:f>Sheet1!$B$1</c:f>
              <c:strCache>
                <c:ptCount val="1"/>
                <c:pt idx="0">
                  <c:v>Pages</c:v>
                </c:pt>
              </c:strCache>
            </c:strRef>
          </c:tx>
          <c:spPr>
            <a:solidFill>
              <a:schemeClr val="accent1"/>
            </a:solidFill>
            <a:effectLst/>
          </c:spPr>
          <c:invertIfNegative val="0"/>
          <c:dLbls>
            <c:numFmt formatCode="#,##0"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cat>
            <c:multiLvlStrRef>
              <c:f>Sheet1!$A$2:$A$11</c:f>
              <c:multiLvlStrCache>
                <c:ptCount val="10"/>
                <c:lvl>
                  <c:pt idx="0">
                    <c:v>Unicommerce</c:v>
                  </c:pt>
                  <c:pt idx="1">
                    <c:v>Honasa</c:v>
                  </c:pt>
                  <c:pt idx="2">
                    <c:v>Hyundai</c:v>
                  </c:pt>
                  <c:pt idx="3">
                    <c:v>Bajaj Housing</c:v>
                  </c:pt>
                  <c:pt idx="4">
                    <c:v>DOMS</c:v>
                  </c:pt>
                  <c:pt idx="5">
                    <c:v>Tata Tech</c:v>
                  </c:pt>
                  <c:pt idx="6">
                    <c:v>JSW Infra</c:v>
                  </c:pt>
                  <c:pt idx="7">
                    <c:v>Mankind</c:v>
                  </c:pt>
                  <c:pt idx="8">
                    <c:v>Premier</c:v>
                  </c:pt>
                  <c:pt idx="9">
                    <c:v>IREDA</c:v>
                  </c:pt>
                </c:lvl>
              </c:multiLvlStrCache>
            </c:multiLvlStrRef>
          </c:cat>
          <c:val>
            <c:numRef>
              <c:f>Sheet1!$B$2:$B$11</c:f>
              <c:numCache>
                <c:formatCode>General</c:formatCode>
                <c:ptCount val="10"/>
                <c:pt idx="0">
                  <c:v>361</c:v>
                </c:pt>
                <c:pt idx="1">
                  <c:v>401</c:v>
                </c:pt>
                <c:pt idx="2">
                  <c:v>436</c:v>
                </c:pt>
                <c:pt idx="3">
                  <c:v>474</c:v>
                </c:pt>
                <c:pt idx="4">
                  <c:v>475</c:v>
                </c:pt>
                <c:pt idx="5">
                  <c:v>480</c:v>
                </c:pt>
                <c:pt idx="6">
                  <c:v>525</c:v>
                </c:pt>
                <c:pt idx="7">
                  <c:v>548</c:v>
                </c:pt>
                <c:pt idx="8">
                  <c:v>558</c:v>
                </c:pt>
                <c:pt idx="9">
                  <c:v>664</c:v>
                </c:pt>
              </c:numCache>
            </c:numRef>
          </c:val>
        </c:ser>
        <c:dLbls>
          <c:numFmt formatCode="#,##0"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update on the AI Underwriter project: what we have built since the literature review, and the plan for the ML pricing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1-4 are complete. Step 5, table extraction, is what we start next. RAG retrieval and the valuation/ML modules depend on clean extracted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DRHP has no price information, and some DRHPs lapse and never list. Since we benchmark against issue price and listing returns, we only pick companies that actually listed and take prices from NSE/BSE.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mainboard IPOs across ten sectors, all now listed. Two finance companies (Bajaj Housing, IREDA) because their statements are laid out differently from industrial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set is for building and testing the pipeline: variety matters more than volume. The ML model will later need 100-150 listed IPOs.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try to get around SEBI's firewall. Each filing's public page loads normally, so we found those pages by web search and downloaded from them. Prices were deliberately left blank in the manifest so they come from NSE/BSE, not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built-in PDF bookmarks were missing or unreliable, but every document has a printed table of contents in its first five pages. The chapter keys let later stages ask for, say, the Basis for Offer Price pages in any document regardless of exact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chapters checked: Risk Factors, Objects of the Offer, Basis for Offer Price, Our Business, Restated Financials, and MD&amp;A. IREDA is the longest document at 664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10 documents were re-run after the fixes. The Premier pages are the auditor's examination report, not the statements themselves, so they do not block table extraction.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map from the parser tells us which pages to run table extraction on, so we never process all 500 pages. Estimated build time: 1-2 hours. The hand-checked answer set is how we measure extraction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Listing-day return is the standard target in IPO research and matches our benchmark. Subscription levels are strong predictors but are only known at the end of bidding, so we include them only if the model is meant to run after bidding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is driven by our data: about 150 rows of tabular features. That rules out deep learning and favours tree ensembles, with a linear model as the honest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small samples, a complex model can look good by chance. The ridge baseline keeps us honest: gradient boosting has to earn its place on the held-out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random train/test split would leak future market conditions into training. Splitting by date mimics real use: price the next IPO using only what was known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never produces the price. It finds and cites evidence; deterministic code and the ML model produce the numbers. This split keeps every output verifiable.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548640" y="1188720"/>
            <a:ext cx="804672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548640" y="2514600"/>
            <a:ext cx="804672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5" name="Text 1"/>
          <p:cNvSpPr/>
          <p:nvPr>
            <p:ph idx="103" type="body" hasCustomPrompt="1"/>
          </p:nvPr>
        </p:nvSpPr>
        <p:spPr>
          <a:xfrm>
            <a:off x="548640" y="3977640"/>
            <a:ext cx="8046720" cy="457200"/>
          </a:xfrm>
          <a:prstGeom prst="rect">
            <a:avLst/>
          </a:prstGeom>
          <a:noFill/>
          <a:ln/>
        </p:spPr>
        <p:txBody>
          <a:bodyPr wrap="square" rtlCol="0"/>
          <a:lstStyle>
            <a:lvl1pPr algn="l" indent="0" marL="0">
              <a:buNone/>
              <a:defRPr lang="en-US" sz="1400" dirty="0">
                <a:solidFill>
                  <a:schemeClr val="accent2"/>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body" hasCustomPrompt="1"/>
          </p:nvPr>
        </p:nvSpPr>
        <p:spPr>
          <a:xfrm>
            <a:off x="548640" y="1325880"/>
            <a:ext cx="3657600" cy="457200"/>
          </a:xfrm>
          <a:prstGeom prst="rect">
            <a:avLst/>
          </a:prstGeom>
          <a:noFill/>
          <a:ln/>
        </p:spPr>
        <p:txBody>
          <a:bodyPr wrap="square" rtlCol="0"/>
          <a:lstStyle>
            <a:lvl1pPr algn="l" indent="0" marL="0">
              <a:buNone/>
              <a:defRPr lang="en-US" sz="1800" b="1" dirty="0">
                <a:solidFill>
                  <a:schemeClr val="accent2"/>
                </a:solidFill>
              </a:defRPr>
            </a:lvl1pPr>
          </a:lstStyle>
          <a:p>
            <a:pPr algn="l" indent="0" marL="0">
              <a:buNone/>
            </a:pPr>
            <a:endParaRPr lang="en-US" sz="1800" dirty="0"/>
          </a:p>
        </p:txBody>
      </p:sp>
      <p:sp>
        <p:nvSpPr>
          <p:cNvPr id="4" name="Text 1"/>
          <p:cNvSpPr/>
          <p:nvPr>
            <p:ph idx="102" type="title" hasCustomPrompt="1"/>
          </p:nvPr>
        </p:nvSpPr>
        <p:spPr>
          <a:xfrm>
            <a:off x="548640" y="1828800"/>
            <a:ext cx="804672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ph idx="103" type="body" hasCustomPrompt="1"/>
          </p:nvPr>
        </p:nvSpPr>
        <p:spPr>
          <a:xfrm>
            <a:off x="548640" y="2788920"/>
            <a:ext cx="804672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1"/>
          </a:solidFill>
          <a:ln/>
        </p:spPr>
      </p:sp>
      <p:sp>
        <p:nvSpPr>
          <p:cNvPr id="3" name="Text 1"/>
          <p:cNvSpPr/>
          <p:nvPr>
            <p:ph idx="101"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1"/>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AI Underwriter  ·  Progress update  ·  October 2026</a:t>
            </a:r>
            <a:endParaRPr lang="en-US" sz="10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1"/>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bg2"/>
                </a:solidFill>
              </a:rPr>
              <a:t>AI Underwriter  ·  Progress update  ·  October 2026</a:t>
            </a:r>
            <a:endParaRPr lang="en-US" sz="10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188720"/>
            <a:ext cx="8046720" cy="1188720"/>
          </a:xfrm>
          <a:prstGeom prst="rect">
            <a:avLst/>
          </a:prstGeom>
          <a:noFill/>
          <a:ln/>
        </p:spPr>
        <p:txBody>
          <a:bodyPr wrap="square" lIns="0" tIns="0" rIns="0" bIns="0" rtlCol="0" anchor="b"/>
          <a:lstStyle/>
          <a:p>
            <a:pPr algn="l" indent="0" marL="0">
              <a:buNone/>
            </a:pPr>
            <a:r>
              <a:rPr lang="en-US" sz="4400" b="1" dirty="0">
                <a:solidFill>
                  <a:schemeClr val="bg1"/>
                </a:solidFill>
              </a:rPr>
              <a:t>AI Underwriter</a:t>
            </a:r>
            <a:endParaRPr lang="en-US" sz="4400" dirty="0"/>
          </a:p>
        </p:txBody>
      </p:sp>
      <p:sp>
        <p:nvSpPr>
          <p:cNvPr id="3" name="Text 1"/>
          <p:cNvSpPr/>
          <p:nvPr>
            <p:ph idx="102" type="body" hasCustomPrompt="1"/>
          </p:nvPr>
        </p:nvSpPr>
        <p:spPr>
          <a:xfrm>
            <a:off x="548640" y="2514600"/>
            <a:ext cx="8046720" cy="822960"/>
          </a:xfrm>
          <a:prstGeom prst="rect">
            <a:avLst/>
          </a:prstGeom>
          <a:noFill/>
          <a:ln/>
        </p:spPr>
        <p:txBody>
          <a:bodyPr wrap="square" lIns="0" tIns="0" rIns="0" bIns="0" rtlCol="0" anchor="t"/>
          <a:lstStyle/>
          <a:p>
            <a:pPr algn="l" indent="0" marL="0">
              <a:buNone/>
            </a:pPr>
            <a:r>
              <a:rPr lang="en-US" sz="2000" dirty="0">
                <a:solidFill>
                  <a:schemeClr val="bg2"/>
                </a:solidFill>
              </a:rPr>
              <a:t>RAG-based DRHP analysis and IPO valuation: progress update</a:t>
            </a:r>
            <a:endParaRPr lang="en-US" sz="2000" dirty="0"/>
          </a:p>
        </p:txBody>
      </p:sp>
      <p:sp>
        <p:nvSpPr>
          <p:cNvPr id="4" name="Text 1"/>
          <p:cNvSpPr/>
          <p:nvPr>
            <p:ph idx="103" type="body" hasCustomPrompt="1"/>
          </p:nvPr>
        </p:nvSpPr>
        <p:spPr>
          <a:xfrm>
            <a:off x="548640" y="3977640"/>
            <a:ext cx="8046720" cy="457200"/>
          </a:xfrm>
          <a:prstGeom prst="rect">
            <a:avLst/>
          </a:prstGeom>
          <a:noFill/>
          <a:ln/>
        </p:spPr>
        <p:txBody>
          <a:bodyPr wrap="square" lIns="0" tIns="0" rIns="0" bIns="0" rtlCol="0" anchor="t"/>
          <a:lstStyle/>
          <a:p>
            <a:pPr algn="l" indent="0" marL="0">
              <a:buNone/>
            </a:pPr>
            <a:r>
              <a:rPr lang="en-US" sz="1400" dirty="0">
                <a:solidFill>
                  <a:schemeClr val="accent2"/>
                </a:solidFill>
              </a:rPr>
              <a:t>BFSI Project  ·  Semester 8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Four of seven stages are done</a:t>
            </a:r>
            <a:endParaRPr lang="en-US" sz="3200" dirty="0"/>
          </a:p>
        </p:txBody>
      </p:sp>
      <p:sp>
        <p:nvSpPr>
          <p:cNvPr id="3" name="line-1"/>
          <p:cNvSpPr/>
          <p:nvPr/>
        </p:nvSpPr>
        <p:spPr>
          <a:xfrm>
            <a:off x="1005840" y="1508760"/>
            <a:ext cx="7132320" cy="0"/>
          </a:xfrm>
          <a:prstGeom prst="line">
            <a:avLst/>
          </a:prstGeom>
          <a:noFill/>
          <a:ln w="19050">
            <a:solidFill>
              <a:schemeClr val="accent4"/>
            </a:solidFill>
            <a:prstDash val="solid"/>
          </a:ln>
        </p:spPr>
      </p:sp>
      <p:sp>
        <p:nvSpPr>
          <p:cNvPr id="4" name="chip-2"/>
          <p:cNvSpPr/>
          <p:nvPr/>
        </p:nvSpPr>
        <p:spPr>
          <a:xfrm>
            <a:off x="731520" y="1234440"/>
            <a:ext cx="548640" cy="54864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3"/>
          <p:cNvSpPr txBox="1"/>
          <p:nvPr/>
        </p:nvSpPr>
        <p:spPr>
          <a:xfrm>
            <a:off x="457200" y="1920240"/>
            <a:ext cx="1097280" cy="502920"/>
          </a:xfrm>
          <a:prstGeom prst="rect">
            <a:avLst/>
          </a:prstGeom>
          <a:noFill/>
          <a:ln/>
        </p:spPr>
        <p:txBody>
          <a:bodyPr wrap="square" lIns="0" tIns="0" rIns="0" bIns="0" rtlCol="0" anchor="t"/>
          <a:lstStyle/>
          <a:p>
            <a:pPr algn="ctr" indent="0" marL="0">
              <a:buNone/>
            </a:pPr>
            <a:r>
              <a:rPr lang="en-US" sz="1300" b="1" dirty="0">
                <a:solidFill>
                  <a:schemeClr val="tx2"/>
                </a:solidFill>
              </a:rPr>
              <a:t>Literature review</a:t>
            </a:r>
            <a:endParaRPr lang="en-US" sz="1300" dirty="0"/>
          </a:p>
        </p:txBody>
      </p:sp>
      <p:sp>
        <p:nvSpPr>
          <p:cNvPr id="6" name="text-4"/>
          <p:cNvSpPr txBox="1"/>
          <p:nvPr/>
        </p:nvSpPr>
        <p:spPr>
          <a:xfrm>
            <a:off x="457200" y="2423160"/>
            <a:ext cx="1097280" cy="274320"/>
          </a:xfrm>
          <a:prstGeom prst="rect">
            <a:avLst/>
          </a:prstGeom>
          <a:noFill/>
          <a:ln/>
        </p:spPr>
        <p:txBody>
          <a:bodyPr wrap="square" lIns="0" tIns="0" rIns="0" bIns="0" rtlCol="0" anchor="t"/>
          <a:lstStyle/>
          <a:p>
            <a:pPr algn="ctr" indent="0" marL="0">
              <a:buNone/>
            </a:pPr>
            <a:r>
              <a:rPr lang="en-US" sz="1100" dirty="0">
                <a:solidFill>
                  <a:schemeClr val="accent4"/>
                </a:solidFill>
              </a:rPr>
              <a:t>Done</a:t>
            </a:r>
            <a:endParaRPr lang="en-US" sz="1100" dirty="0"/>
          </a:p>
        </p:txBody>
      </p:sp>
      <p:sp>
        <p:nvSpPr>
          <p:cNvPr id="7" name="chip-5"/>
          <p:cNvSpPr/>
          <p:nvPr/>
        </p:nvSpPr>
        <p:spPr>
          <a:xfrm>
            <a:off x="1920240" y="1234440"/>
            <a:ext cx="548640" cy="54864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6"/>
          <p:cNvSpPr txBox="1"/>
          <p:nvPr/>
        </p:nvSpPr>
        <p:spPr>
          <a:xfrm>
            <a:off x="1645920" y="1920240"/>
            <a:ext cx="1097280" cy="502920"/>
          </a:xfrm>
          <a:prstGeom prst="rect">
            <a:avLst/>
          </a:prstGeom>
          <a:noFill/>
          <a:ln/>
        </p:spPr>
        <p:txBody>
          <a:bodyPr wrap="square" lIns="0" tIns="0" rIns="0" bIns="0" rtlCol="0" anchor="t"/>
          <a:lstStyle/>
          <a:p>
            <a:pPr algn="ctr" indent="0" marL="0">
              <a:buNone/>
            </a:pPr>
            <a:r>
              <a:rPr lang="en-US" sz="1300" b="1" dirty="0">
                <a:solidFill>
                  <a:schemeClr val="tx2"/>
                </a:solidFill>
              </a:rPr>
              <a:t>Pipeline plan</a:t>
            </a:r>
            <a:endParaRPr lang="en-US" sz="1300" dirty="0"/>
          </a:p>
        </p:txBody>
      </p:sp>
      <p:sp>
        <p:nvSpPr>
          <p:cNvPr id="9" name="text-7"/>
          <p:cNvSpPr txBox="1"/>
          <p:nvPr/>
        </p:nvSpPr>
        <p:spPr>
          <a:xfrm>
            <a:off x="1645920" y="2423160"/>
            <a:ext cx="1097280" cy="274320"/>
          </a:xfrm>
          <a:prstGeom prst="rect">
            <a:avLst/>
          </a:prstGeom>
          <a:noFill/>
          <a:ln/>
        </p:spPr>
        <p:txBody>
          <a:bodyPr wrap="square" lIns="0" tIns="0" rIns="0" bIns="0" rtlCol="0" anchor="t"/>
          <a:lstStyle/>
          <a:p>
            <a:pPr algn="ctr" indent="0" marL="0">
              <a:buNone/>
            </a:pPr>
            <a:r>
              <a:rPr lang="en-US" sz="1100" dirty="0">
                <a:solidFill>
                  <a:schemeClr val="accent4"/>
                </a:solidFill>
              </a:rPr>
              <a:t>Done</a:t>
            </a:r>
            <a:endParaRPr lang="en-US" sz="1100" dirty="0"/>
          </a:p>
        </p:txBody>
      </p:sp>
      <p:sp>
        <p:nvSpPr>
          <p:cNvPr id="10" name="chip-8"/>
          <p:cNvSpPr/>
          <p:nvPr/>
        </p:nvSpPr>
        <p:spPr>
          <a:xfrm>
            <a:off x="3108960" y="1234440"/>
            <a:ext cx="548640" cy="54864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9"/>
          <p:cNvSpPr txBox="1"/>
          <p:nvPr/>
        </p:nvSpPr>
        <p:spPr>
          <a:xfrm>
            <a:off x="2834640" y="1920240"/>
            <a:ext cx="1097280" cy="502920"/>
          </a:xfrm>
          <a:prstGeom prst="rect">
            <a:avLst/>
          </a:prstGeom>
          <a:noFill/>
          <a:ln/>
        </p:spPr>
        <p:txBody>
          <a:bodyPr wrap="square" lIns="0" tIns="0" rIns="0" bIns="0" rtlCol="0" anchor="t"/>
          <a:lstStyle/>
          <a:p>
            <a:pPr algn="ctr" indent="0" marL="0">
              <a:buNone/>
            </a:pPr>
            <a:r>
              <a:rPr lang="en-US" sz="1300" b="1" dirty="0">
                <a:solidFill>
                  <a:schemeClr val="tx2"/>
                </a:solidFill>
              </a:rPr>
              <a:t>Data collection</a:t>
            </a:r>
            <a:endParaRPr lang="en-US" sz="1300" dirty="0"/>
          </a:p>
        </p:txBody>
      </p:sp>
      <p:sp>
        <p:nvSpPr>
          <p:cNvPr id="12" name="text-10"/>
          <p:cNvSpPr txBox="1"/>
          <p:nvPr/>
        </p:nvSpPr>
        <p:spPr>
          <a:xfrm>
            <a:off x="2834640" y="2423160"/>
            <a:ext cx="1097280" cy="274320"/>
          </a:xfrm>
          <a:prstGeom prst="rect">
            <a:avLst/>
          </a:prstGeom>
          <a:noFill/>
          <a:ln/>
        </p:spPr>
        <p:txBody>
          <a:bodyPr wrap="square" lIns="0" tIns="0" rIns="0" bIns="0" rtlCol="0" anchor="t"/>
          <a:lstStyle/>
          <a:p>
            <a:pPr algn="ctr" indent="0" marL="0">
              <a:buNone/>
            </a:pPr>
            <a:r>
              <a:rPr lang="en-US" sz="1100" dirty="0">
                <a:solidFill>
                  <a:schemeClr val="accent4"/>
                </a:solidFill>
              </a:rPr>
              <a:t>Done</a:t>
            </a:r>
            <a:endParaRPr lang="en-US" sz="1100" dirty="0"/>
          </a:p>
        </p:txBody>
      </p:sp>
      <p:sp>
        <p:nvSpPr>
          <p:cNvPr id="13" name="chip-11"/>
          <p:cNvSpPr/>
          <p:nvPr/>
        </p:nvSpPr>
        <p:spPr>
          <a:xfrm>
            <a:off x="4297680" y="1234440"/>
            <a:ext cx="548640" cy="54864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12"/>
          <p:cNvSpPr txBox="1"/>
          <p:nvPr/>
        </p:nvSpPr>
        <p:spPr>
          <a:xfrm>
            <a:off x="4023360" y="1920240"/>
            <a:ext cx="1097280" cy="502920"/>
          </a:xfrm>
          <a:prstGeom prst="rect">
            <a:avLst/>
          </a:prstGeom>
          <a:noFill/>
          <a:ln/>
        </p:spPr>
        <p:txBody>
          <a:bodyPr wrap="square" lIns="0" tIns="0" rIns="0" bIns="0" rtlCol="0" anchor="t"/>
          <a:lstStyle/>
          <a:p>
            <a:pPr algn="ctr" indent="0" marL="0">
              <a:buNone/>
            </a:pPr>
            <a:r>
              <a:rPr lang="en-US" sz="1300" b="1" dirty="0">
                <a:solidFill>
                  <a:schemeClr val="tx2"/>
                </a:solidFill>
              </a:rPr>
              <a:t>PDF parsing</a:t>
            </a:r>
            <a:endParaRPr lang="en-US" sz="1300" dirty="0"/>
          </a:p>
        </p:txBody>
      </p:sp>
      <p:sp>
        <p:nvSpPr>
          <p:cNvPr id="15" name="text-13"/>
          <p:cNvSpPr txBox="1"/>
          <p:nvPr/>
        </p:nvSpPr>
        <p:spPr>
          <a:xfrm>
            <a:off x="4023360" y="2423160"/>
            <a:ext cx="1097280" cy="274320"/>
          </a:xfrm>
          <a:prstGeom prst="rect">
            <a:avLst/>
          </a:prstGeom>
          <a:noFill/>
          <a:ln/>
        </p:spPr>
        <p:txBody>
          <a:bodyPr wrap="square" lIns="0" tIns="0" rIns="0" bIns="0" rtlCol="0" anchor="t"/>
          <a:lstStyle/>
          <a:p>
            <a:pPr algn="ctr" indent="0" marL="0">
              <a:buNone/>
            </a:pPr>
            <a:r>
              <a:rPr lang="en-US" sz="1100" dirty="0">
                <a:solidFill>
                  <a:schemeClr val="accent4"/>
                </a:solidFill>
              </a:rPr>
              <a:t>Done</a:t>
            </a:r>
            <a:endParaRPr lang="en-US" sz="1100" dirty="0"/>
          </a:p>
        </p:txBody>
      </p:sp>
      <p:sp>
        <p:nvSpPr>
          <p:cNvPr id="16" name="chip-14"/>
          <p:cNvSpPr/>
          <p:nvPr/>
        </p:nvSpPr>
        <p:spPr>
          <a:xfrm>
            <a:off x="5486400" y="1234440"/>
            <a:ext cx="548640" cy="548640"/>
          </a:xfrm>
          <a:prstGeom prst="ellipse">
            <a:avLst/>
          </a:prstGeom>
          <a:solidFill>
            <a:schemeClr val="accent2"/>
          </a:solidFill>
          <a:ln w="19050">
            <a:solidFill>
              <a:schemeClr val="accent2"/>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15"/>
          <p:cNvSpPr txBox="1"/>
          <p:nvPr/>
        </p:nvSpPr>
        <p:spPr>
          <a:xfrm>
            <a:off x="5212080" y="1920240"/>
            <a:ext cx="1097280" cy="502920"/>
          </a:xfrm>
          <a:prstGeom prst="rect">
            <a:avLst/>
          </a:prstGeom>
          <a:noFill/>
          <a:ln/>
        </p:spPr>
        <p:txBody>
          <a:bodyPr wrap="square" lIns="0" tIns="0" rIns="0" bIns="0" rtlCol="0" anchor="t"/>
          <a:lstStyle/>
          <a:p>
            <a:pPr algn="ctr" indent="0" marL="0">
              <a:buNone/>
            </a:pPr>
            <a:r>
              <a:rPr lang="en-US" sz="1300" b="1" dirty="0">
                <a:solidFill>
                  <a:schemeClr val="tx2"/>
                </a:solidFill>
              </a:rPr>
              <a:t>Table extraction</a:t>
            </a:r>
            <a:endParaRPr lang="en-US" sz="1300" dirty="0"/>
          </a:p>
        </p:txBody>
      </p:sp>
      <p:sp>
        <p:nvSpPr>
          <p:cNvPr id="18" name="text-16"/>
          <p:cNvSpPr txBox="1"/>
          <p:nvPr/>
        </p:nvSpPr>
        <p:spPr>
          <a:xfrm>
            <a:off x="5212080" y="2423160"/>
            <a:ext cx="1097280" cy="274320"/>
          </a:xfrm>
          <a:prstGeom prst="rect">
            <a:avLst/>
          </a:prstGeom>
          <a:noFill/>
          <a:ln/>
        </p:spPr>
        <p:txBody>
          <a:bodyPr wrap="square" lIns="0" tIns="0" rIns="0" bIns="0" rtlCol="0" anchor="t"/>
          <a:lstStyle/>
          <a:p>
            <a:pPr algn="ctr" indent="0" marL="0">
              <a:buNone/>
            </a:pPr>
            <a:r>
              <a:rPr lang="en-US" sz="1100" b="1" dirty="0">
                <a:solidFill>
                  <a:schemeClr val="accent2"/>
                </a:solidFill>
              </a:rPr>
              <a:t>Next</a:t>
            </a:r>
            <a:endParaRPr lang="en-US" sz="1100" dirty="0"/>
          </a:p>
        </p:txBody>
      </p:sp>
      <p:sp>
        <p:nvSpPr>
          <p:cNvPr id="19" name="chip-17"/>
          <p:cNvSpPr/>
          <p:nvPr/>
        </p:nvSpPr>
        <p:spPr>
          <a:xfrm>
            <a:off x="6675120" y="1234440"/>
            <a:ext cx="548640" cy="548640"/>
          </a:xfrm>
          <a:prstGeom prst="ellipse">
            <a:avLst/>
          </a:prstGeom>
          <a:solidFill>
            <a:schemeClr val="bg1"/>
          </a:solidFill>
          <a:ln w="19050">
            <a:solidFill>
              <a:schemeClr val="accent4"/>
            </a:solidFill>
          </a:ln>
        </p:spPr>
        <p:txBody>
          <a:bodyPr wrap="square" lIns="0" tIns="0" rIns="0" bIns="0" rtlCol="0" anchor="ctr"/>
          <a:lstStyle/>
          <a:p>
            <a:pPr algn="ctr" indent="0" marL="0">
              <a:buNone/>
            </a:pPr>
            <a:r>
              <a:rPr lang="en-US" sz="1600" b="1" dirty="0">
                <a:solidFill>
                  <a:schemeClr val="accent4"/>
                </a:solidFill>
              </a:rPr>
              <a:t>6</a:t>
            </a:r>
            <a:endParaRPr lang="en-US" sz="1600" dirty="0"/>
          </a:p>
        </p:txBody>
      </p:sp>
      <p:sp>
        <p:nvSpPr>
          <p:cNvPr id="20" name="text-18"/>
          <p:cNvSpPr txBox="1"/>
          <p:nvPr/>
        </p:nvSpPr>
        <p:spPr>
          <a:xfrm>
            <a:off x="6400800" y="1920240"/>
            <a:ext cx="1097280" cy="502920"/>
          </a:xfrm>
          <a:prstGeom prst="rect">
            <a:avLst/>
          </a:prstGeom>
          <a:noFill/>
          <a:ln/>
        </p:spPr>
        <p:txBody>
          <a:bodyPr wrap="square" lIns="0" tIns="0" rIns="0" bIns="0" rtlCol="0" anchor="t"/>
          <a:lstStyle/>
          <a:p>
            <a:pPr algn="ctr" indent="0" marL="0">
              <a:buNone/>
            </a:pPr>
            <a:r>
              <a:rPr lang="en-US" sz="1300" b="1" dirty="0">
                <a:solidFill>
                  <a:schemeClr val="tx2"/>
                </a:solidFill>
              </a:rPr>
              <a:t>RAG retrieval</a:t>
            </a:r>
            <a:endParaRPr lang="en-US" sz="1300" dirty="0"/>
          </a:p>
        </p:txBody>
      </p:sp>
      <p:sp>
        <p:nvSpPr>
          <p:cNvPr id="21" name="text-19"/>
          <p:cNvSpPr txBox="1"/>
          <p:nvPr/>
        </p:nvSpPr>
        <p:spPr>
          <a:xfrm>
            <a:off x="6400800" y="2423160"/>
            <a:ext cx="1097280" cy="274320"/>
          </a:xfrm>
          <a:prstGeom prst="rect">
            <a:avLst/>
          </a:prstGeom>
          <a:noFill/>
          <a:ln/>
        </p:spPr>
        <p:txBody>
          <a:bodyPr wrap="square" lIns="0" tIns="0" rIns="0" bIns="0" rtlCol="0" anchor="t"/>
          <a:lstStyle/>
          <a:p>
            <a:pPr algn="ctr" indent="0" marL="0">
              <a:buNone/>
            </a:pPr>
            <a:r>
              <a:rPr lang="en-US" sz="1100" dirty="0">
                <a:solidFill>
                  <a:schemeClr val="accent4"/>
                </a:solidFill>
              </a:rPr>
              <a:t>Planned</a:t>
            </a:r>
            <a:endParaRPr lang="en-US" sz="1100" dirty="0"/>
          </a:p>
        </p:txBody>
      </p:sp>
      <p:sp>
        <p:nvSpPr>
          <p:cNvPr id="22" name="chip-20"/>
          <p:cNvSpPr/>
          <p:nvPr/>
        </p:nvSpPr>
        <p:spPr>
          <a:xfrm>
            <a:off x="7863840" y="1234440"/>
            <a:ext cx="548640" cy="548640"/>
          </a:xfrm>
          <a:prstGeom prst="ellipse">
            <a:avLst/>
          </a:prstGeom>
          <a:solidFill>
            <a:schemeClr val="bg1"/>
          </a:solidFill>
          <a:ln w="19050">
            <a:solidFill>
              <a:schemeClr val="accent4"/>
            </a:solidFill>
          </a:ln>
        </p:spPr>
        <p:txBody>
          <a:bodyPr wrap="square" lIns="0" tIns="0" rIns="0" bIns="0" rtlCol="0" anchor="ctr"/>
          <a:lstStyle/>
          <a:p>
            <a:pPr algn="ctr" indent="0" marL="0">
              <a:buNone/>
            </a:pPr>
            <a:r>
              <a:rPr lang="en-US" sz="1600" b="1" dirty="0">
                <a:solidFill>
                  <a:schemeClr val="accent4"/>
                </a:solidFill>
              </a:rPr>
              <a:t>7</a:t>
            </a:r>
            <a:endParaRPr lang="en-US" sz="1600" dirty="0"/>
          </a:p>
        </p:txBody>
      </p:sp>
      <p:sp>
        <p:nvSpPr>
          <p:cNvPr id="23" name="text-21"/>
          <p:cNvSpPr txBox="1"/>
          <p:nvPr/>
        </p:nvSpPr>
        <p:spPr>
          <a:xfrm>
            <a:off x="7589520" y="1920240"/>
            <a:ext cx="1097280" cy="502920"/>
          </a:xfrm>
          <a:prstGeom prst="rect">
            <a:avLst/>
          </a:prstGeom>
          <a:noFill/>
          <a:ln/>
        </p:spPr>
        <p:txBody>
          <a:bodyPr wrap="square" lIns="0" tIns="0" rIns="0" bIns="0" rtlCol="0" anchor="t"/>
          <a:lstStyle/>
          <a:p>
            <a:pPr algn="ctr" indent="0" marL="0">
              <a:buNone/>
            </a:pPr>
            <a:r>
              <a:rPr lang="en-US" sz="1300" b="1" dirty="0">
                <a:solidFill>
                  <a:schemeClr val="tx2"/>
                </a:solidFill>
              </a:rPr>
              <a:t>Valuation + ML</a:t>
            </a:r>
            <a:endParaRPr lang="en-US" sz="1300" dirty="0"/>
          </a:p>
        </p:txBody>
      </p:sp>
      <p:sp>
        <p:nvSpPr>
          <p:cNvPr id="24" name="text-22"/>
          <p:cNvSpPr txBox="1"/>
          <p:nvPr/>
        </p:nvSpPr>
        <p:spPr>
          <a:xfrm>
            <a:off x="7589520" y="2423160"/>
            <a:ext cx="1097280" cy="274320"/>
          </a:xfrm>
          <a:prstGeom prst="rect">
            <a:avLst/>
          </a:prstGeom>
          <a:noFill/>
          <a:ln/>
        </p:spPr>
        <p:txBody>
          <a:bodyPr wrap="square" lIns="0" tIns="0" rIns="0" bIns="0" rtlCol="0" anchor="t"/>
          <a:lstStyle/>
          <a:p>
            <a:pPr algn="ctr" indent="0" marL="0">
              <a:buNone/>
            </a:pPr>
            <a:r>
              <a:rPr lang="en-US" sz="1100" dirty="0">
                <a:solidFill>
                  <a:schemeClr val="accent4"/>
                </a:solidFill>
              </a:rPr>
              <a:t>Planned</a:t>
            </a:r>
            <a:endParaRPr lang="en-US" sz="1100" dirty="0"/>
          </a:p>
        </p:txBody>
      </p:sp>
      <p:sp>
        <p:nvSpPr>
          <p:cNvPr id="25" name="card-23"/>
          <p:cNvSpPr/>
          <p:nvPr/>
        </p:nvSpPr>
        <p:spPr>
          <a:xfrm>
            <a:off x="457200" y="3154680"/>
            <a:ext cx="8229600" cy="1325880"/>
          </a:xfrm>
          <a:prstGeom prst="roundRect">
            <a:avLst>
              <a:gd name="adj" fmla="val 5517"/>
            </a:avLst>
          </a:prstGeom>
          <a:solidFill>
            <a:schemeClr val="bg2"/>
          </a:solidFill>
          <a:ln w="9525">
            <a:solidFill>
              <a:schemeClr val="bg2"/>
            </a:solidFill>
            <a:prstDash val="solid"/>
          </a:ln>
        </p:spPr>
      </p:sp>
      <p:sp>
        <p:nvSpPr>
          <p:cNvPr id="26" name="text-24"/>
          <p:cNvSpPr txBox="1"/>
          <p:nvPr/>
        </p:nvSpPr>
        <p:spPr>
          <a:xfrm>
            <a:off x="685800" y="3291840"/>
            <a:ext cx="7772400" cy="1097280"/>
          </a:xfrm>
          <a:prstGeom prst="rect">
            <a:avLst/>
          </a:prstGeom>
          <a:noFill/>
          <a:ln/>
        </p:spPr>
        <p:txBody>
          <a:bodyPr wrap="square" lIns="0" tIns="0" rIns="0" bIns="0" rtlCol="0" anchor="t"/>
          <a:lstStyle/>
          <a:p>
            <a:pPr indent="0" marL="0">
              <a:spcAft>
                <a:spcPts val="300"/>
              </a:spcAft>
              <a:buNone/>
            </a:pPr>
            <a:r>
              <a:rPr lang="en-US" sz="1500" b="1" dirty="0">
                <a:solidFill>
                  <a:schemeClr val="tx2"/>
                </a:solidFill>
              </a:rPr>
              <a:t>Since the last review</a:t>
            </a:r>
            <a:endParaRPr lang="en-US" sz="1400" dirty="0"/>
          </a:p>
          <a:p>
            <a:pPr marL="342900" indent="-342900">
              <a:spcAft>
                <a:spcPts val="300"/>
              </a:spcAft>
              <a:buSzPct val="100000"/>
              <a:buChar char="•"/>
            </a:pPr>
            <a:r>
              <a:rPr lang="en-US" sz="1400" dirty="0">
                <a:solidFill>
                  <a:schemeClr val="tx1"/>
                </a:solidFill>
              </a:rPr>
              <a:t>Downloaded and verified 10 offer documents from SEBI (4,922 pages)</a:t>
            </a:r>
            <a:endParaRPr lang="en-US" sz="1400" dirty="0"/>
          </a:p>
          <a:p>
            <a:pPr marL="342900" indent="-342900">
              <a:spcAft>
                <a:spcPts val="300"/>
              </a:spcAft>
              <a:buSzPct val="100000"/>
              <a:buChar char="•"/>
            </a:pPr>
            <a:r>
              <a:rPr lang="en-US" sz="1400" dirty="0">
                <a:solidFill>
                  <a:schemeClr val="tx1"/>
                </a:solidFill>
              </a:rPr>
              <a:t>Built a parser that tags every page with its DRHP section and chapter</a:t>
            </a:r>
            <a:endParaRPr lang="en-US" sz="1400" dirty="0"/>
          </a:p>
          <a:p>
            <a:pPr marL="342900" indent="-342900">
              <a:spcAft>
                <a:spcPts val="300"/>
              </a:spcAft>
              <a:buSzPct val="100000"/>
              <a:buChar char="•"/>
            </a:pPr>
            <a:r>
              <a:rPr lang="en-US" sz="1400" dirty="0">
                <a:solidFill>
                  <a:schemeClr val="tx1"/>
                </a:solidFill>
              </a:rPr>
              <a:t>Next: pull the financial statements and peer tables out as clean data</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1325880"/>
            <a:ext cx="3657600" cy="457200"/>
          </a:xfrm>
          <a:prstGeom prst="rect">
            <a:avLst/>
          </a:prstGeom>
          <a:noFill/>
          <a:ln/>
        </p:spPr>
        <p:txBody>
          <a:bodyPr wrap="square" lIns="0" tIns="0" rIns="0" bIns="0" rtlCol="0" anchor="b"/>
          <a:lstStyle/>
          <a:p>
            <a:pPr algn="l" indent="0" marL="0">
              <a:buNone/>
            </a:pPr>
            <a:r>
              <a:rPr lang="en-US" sz="1800" b="1" dirty="0">
                <a:solidFill>
                  <a:schemeClr val="accent2"/>
                </a:solidFill>
              </a:rPr>
              <a:t>01</a:t>
            </a:r>
            <a:endParaRPr lang="en-US" sz="1800" dirty="0"/>
          </a:p>
        </p:txBody>
      </p:sp>
      <p:sp>
        <p:nvSpPr>
          <p:cNvPr id="3" name="Text 1"/>
          <p:cNvSpPr/>
          <p:nvPr>
            <p:ph idx="102" type="title" hasCustomPrompt="1"/>
          </p:nvPr>
        </p:nvSpPr>
        <p:spPr>
          <a:xfrm>
            <a:off x="548640" y="1828800"/>
            <a:ext cx="8046720" cy="914400"/>
          </a:xfrm>
          <a:prstGeom prst="rect">
            <a:avLst/>
          </a:prstGeom>
          <a:noFill/>
          <a:ln/>
        </p:spPr>
        <p:txBody>
          <a:bodyPr wrap="square" lIns="0" tIns="0" rIns="0" bIns="0" rtlCol="0" anchor="t"/>
          <a:lstStyle/>
          <a:p>
            <a:pPr algn="l" indent="0" marL="0">
              <a:buNone/>
            </a:pPr>
            <a:r>
              <a:rPr lang="en-US" sz="4000" b="1" dirty="0">
                <a:solidFill>
                  <a:schemeClr val="bg1"/>
                </a:solidFill>
              </a:rPr>
              <a:t>Data collection</a:t>
            </a:r>
            <a:endParaRPr lang="en-US" sz="4000" dirty="0"/>
          </a:p>
        </p:txBody>
      </p:sp>
      <p:sp>
        <p:nvSpPr>
          <p:cNvPr id="4" name="Text 1"/>
          <p:cNvSpPr/>
          <p:nvPr>
            <p:ph idx="103" type="body" hasCustomPrompt="1"/>
          </p:nvPr>
        </p:nvSpPr>
        <p:spPr>
          <a:xfrm>
            <a:off x="548640" y="2788920"/>
            <a:ext cx="8046720" cy="822960"/>
          </a:xfrm>
          <a:prstGeom prst="rect">
            <a:avLst/>
          </a:prstGeom>
          <a:noFill/>
          <a:ln/>
        </p:spPr>
        <p:txBody>
          <a:bodyPr wrap="square" lIns="0" tIns="0" rIns="0" bIns="0" rtlCol="0" anchor="t"/>
          <a:lstStyle/>
          <a:p>
            <a:pPr algn="l" indent="0" marL="0">
              <a:buNone/>
            </a:pPr>
            <a:r>
              <a:rPr lang="en-US" sz="1800" dirty="0">
                <a:solidFill>
                  <a:schemeClr val="bg2"/>
                </a:solidFill>
              </a:rPr>
              <a:t>Which documents we need, the pilot sample, and how we collected it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A DRHP alone is not enough</a:t>
            </a:r>
            <a:endParaRPr lang="en-US" sz="3200" dirty="0"/>
          </a:p>
        </p:txBody>
      </p:sp>
      <p:sp>
        <p:nvSpPr>
          <p:cNvPr id="3" name="card-25"/>
          <p:cNvSpPr/>
          <p:nvPr/>
        </p:nvSpPr>
        <p:spPr>
          <a:xfrm>
            <a:off x="457200" y="1188720"/>
            <a:ext cx="2560320" cy="2377440"/>
          </a:xfrm>
          <a:prstGeom prst="roundRect">
            <a:avLst>
              <a:gd name="adj" fmla="val 3077"/>
            </a:avLst>
          </a:prstGeom>
          <a:solidFill>
            <a:schemeClr val="bg2"/>
          </a:solidFill>
          <a:ln w="9525">
            <a:solidFill>
              <a:schemeClr val="bg2"/>
            </a:solidFill>
            <a:prstDash val="solid"/>
          </a:ln>
        </p:spPr>
      </p:sp>
      <p:sp>
        <p:nvSpPr>
          <p:cNvPr id="4" name="chip-26"/>
          <p:cNvSpPr/>
          <p:nvPr/>
        </p:nvSpPr>
        <p:spPr>
          <a:xfrm>
            <a:off x="640080" y="1353312"/>
            <a:ext cx="411480" cy="41148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27"/>
          <p:cNvSpPr txBox="1"/>
          <p:nvPr/>
        </p:nvSpPr>
        <p:spPr>
          <a:xfrm>
            <a:off x="1188720" y="1325880"/>
            <a:ext cx="1691640" cy="685800"/>
          </a:xfrm>
          <a:prstGeom prst="rect">
            <a:avLst/>
          </a:prstGeom>
          <a:noFill/>
          <a:ln/>
        </p:spPr>
        <p:txBody>
          <a:bodyPr wrap="square" lIns="0" tIns="0" rIns="0" bIns="0" rtlCol="0" anchor="ctr"/>
          <a:lstStyle/>
          <a:p>
            <a:pPr indent="0" marL="0">
              <a:buNone/>
            </a:pPr>
            <a:r>
              <a:rPr lang="en-US" sz="1600" b="1" dirty="0">
                <a:solidFill>
                  <a:schemeClr val="tx2"/>
                </a:solidFill>
              </a:rPr>
              <a:t>DRHP</a:t>
            </a:r>
            <a:endParaRPr lang="en-US" sz="1400" dirty="0"/>
          </a:p>
          <a:p>
            <a:pPr indent="0" marL="0">
              <a:buNone/>
            </a:pPr>
            <a:r>
              <a:rPr lang="en-US" sz="1100" dirty="0">
                <a:solidFill>
                  <a:schemeClr val="accent4"/>
                </a:solidFill>
              </a:rPr>
              <a:t>Filed with SEBI</a:t>
            </a:r>
            <a:endParaRPr lang="en-US" sz="1400" dirty="0"/>
          </a:p>
        </p:txBody>
      </p:sp>
      <p:sp>
        <p:nvSpPr>
          <p:cNvPr id="6" name="text-28"/>
          <p:cNvSpPr txBox="1"/>
          <p:nvPr/>
        </p:nvSpPr>
        <p:spPr>
          <a:xfrm>
            <a:off x="640080" y="2148840"/>
            <a:ext cx="224028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First full draft</a:t>
            </a:r>
            <a:endParaRPr lang="en-US" sz="1400" dirty="0"/>
          </a:p>
          <a:p>
            <a:pPr marL="342900" indent="-342900">
              <a:spcAft>
                <a:spcPts val="400"/>
              </a:spcAft>
              <a:buSzPct val="100000"/>
              <a:buChar char="•"/>
            </a:pPr>
            <a:r>
              <a:rPr lang="en-US" sz="1400" dirty="0">
                <a:solidFill>
                  <a:schemeClr val="tx1"/>
                </a:solidFill>
              </a:rPr>
              <a:t>Business, risks and restated financials</a:t>
            </a:r>
            <a:endParaRPr lang="en-US" sz="1400" dirty="0"/>
          </a:p>
          <a:p>
            <a:pPr marL="342900" indent="-342900">
              <a:spcAft>
                <a:spcPts val="400"/>
              </a:spcAft>
              <a:buSzPct val="100000"/>
              <a:buChar char="•"/>
            </a:pPr>
            <a:r>
              <a:rPr lang="en-US" sz="1400" dirty="0">
                <a:solidFill>
                  <a:schemeClr val="tx1"/>
                </a:solidFill>
              </a:rPr>
              <a:t>No price band or issue price</a:t>
            </a:r>
            <a:endParaRPr lang="en-US" sz="1400" dirty="0"/>
          </a:p>
        </p:txBody>
      </p:sp>
      <p:sp>
        <p:nvSpPr>
          <p:cNvPr id="7" name="card-29"/>
          <p:cNvSpPr/>
          <p:nvPr/>
        </p:nvSpPr>
        <p:spPr>
          <a:xfrm>
            <a:off x="3291840" y="1188720"/>
            <a:ext cx="2560320" cy="2377440"/>
          </a:xfrm>
          <a:prstGeom prst="roundRect">
            <a:avLst>
              <a:gd name="adj" fmla="val 3077"/>
            </a:avLst>
          </a:prstGeom>
          <a:solidFill>
            <a:schemeClr val="bg2"/>
          </a:solidFill>
          <a:ln w="9525">
            <a:solidFill>
              <a:schemeClr val="bg2"/>
            </a:solidFill>
            <a:prstDash val="solid"/>
          </a:ln>
        </p:spPr>
      </p:sp>
      <p:sp>
        <p:nvSpPr>
          <p:cNvPr id="8" name="chip-30"/>
          <p:cNvSpPr/>
          <p:nvPr/>
        </p:nvSpPr>
        <p:spPr>
          <a:xfrm>
            <a:off x="3474720" y="1353312"/>
            <a:ext cx="411480" cy="41148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31"/>
          <p:cNvSpPr txBox="1"/>
          <p:nvPr/>
        </p:nvSpPr>
        <p:spPr>
          <a:xfrm>
            <a:off x="4023360" y="1325880"/>
            <a:ext cx="1691640" cy="685800"/>
          </a:xfrm>
          <a:prstGeom prst="rect">
            <a:avLst/>
          </a:prstGeom>
          <a:noFill/>
          <a:ln/>
        </p:spPr>
        <p:txBody>
          <a:bodyPr wrap="square" lIns="0" tIns="0" rIns="0" bIns="0" rtlCol="0" anchor="ctr"/>
          <a:lstStyle/>
          <a:p>
            <a:pPr indent="0" marL="0">
              <a:buNone/>
            </a:pPr>
            <a:r>
              <a:rPr lang="en-US" sz="1600" b="1" dirty="0">
                <a:solidFill>
                  <a:schemeClr val="tx2"/>
                </a:solidFill>
              </a:rPr>
              <a:t>RHP</a:t>
            </a:r>
            <a:endParaRPr lang="en-US" sz="1400" dirty="0"/>
          </a:p>
          <a:p>
            <a:pPr indent="0" marL="0">
              <a:buNone/>
            </a:pPr>
            <a:r>
              <a:rPr lang="en-US" sz="1100" dirty="0">
                <a:solidFill>
                  <a:schemeClr val="accent4"/>
                </a:solidFill>
              </a:rPr>
              <a:t>Filed with RoC before bidding</a:t>
            </a:r>
            <a:endParaRPr lang="en-US" sz="1400" dirty="0"/>
          </a:p>
        </p:txBody>
      </p:sp>
      <p:sp>
        <p:nvSpPr>
          <p:cNvPr id="10" name="text-32"/>
          <p:cNvSpPr txBox="1"/>
          <p:nvPr/>
        </p:nvSpPr>
        <p:spPr>
          <a:xfrm>
            <a:off x="3474720" y="2148840"/>
            <a:ext cx="224028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Same structure as the DRHP</a:t>
            </a:r>
            <a:endParaRPr lang="en-US" sz="1400" dirty="0"/>
          </a:p>
          <a:p>
            <a:pPr marL="342900" indent="-342900">
              <a:spcAft>
                <a:spcPts val="400"/>
              </a:spcAft>
              <a:buSzPct val="100000"/>
              <a:buChar char="•"/>
            </a:pPr>
            <a:r>
              <a:rPr lang="en-US" sz="1400" dirty="0">
                <a:solidFill>
                  <a:schemeClr val="tx1"/>
                </a:solidFill>
              </a:rPr>
              <a:t>Updated financials</a:t>
            </a:r>
            <a:endParaRPr lang="en-US" sz="1400" dirty="0"/>
          </a:p>
          <a:p>
            <a:pPr marL="342900" indent="-342900">
              <a:spcAft>
                <a:spcPts val="400"/>
              </a:spcAft>
              <a:buSzPct val="100000"/>
              <a:buChar char="•"/>
            </a:pPr>
            <a:r>
              <a:rPr lang="en-US" sz="1400" dirty="0">
                <a:solidFill>
                  <a:schemeClr val="tx1"/>
                </a:solidFill>
              </a:rPr>
              <a:t>Adds the price band</a:t>
            </a:r>
            <a:endParaRPr lang="en-US" sz="1400" dirty="0"/>
          </a:p>
        </p:txBody>
      </p:sp>
      <p:sp>
        <p:nvSpPr>
          <p:cNvPr id="11" name="card-33"/>
          <p:cNvSpPr/>
          <p:nvPr/>
        </p:nvSpPr>
        <p:spPr>
          <a:xfrm>
            <a:off x="6126480" y="1188720"/>
            <a:ext cx="2560320" cy="2377440"/>
          </a:xfrm>
          <a:prstGeom prst="roundRect">
            <a:avLst>
              <a:gd name="adj" fmla="val 3077"/>
            </a:avLst>
          </a:prstGeom>
          <a:solidFill>
            <a:schemeClr val="bg2"/>
          </a:solidFill>
          <a:ln w="9525">
            <a:solidFill>
              <a:schemeClr val="bg2"/>
            </a:solidFill>
            <a:prstDash val="solid"/>
          </a:ln>
        </p:spPr>
      </p:sp>
      <p:sp>
        <p:nvSpPr>
          <p:cNvPr id="12" name="chip-34"/>
          <p:cNvSpPr/>
          <p:nvPr/>
        </p:nvSpPr>
        <p:spPr>
          <a:xfrm>
            <a:off x="6309360" y="1353312"/>
            <a:ext cx="411480" cy="41148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35"/>
          <p:cNvSpPr txBox="1"/>
          <p:nvPr/>
        </p:nvSpPr>
        <p:spPr>
          <a:xfrm>
            <a:off x="6858000" y="1325880"/>
            <a:ext cx="1691640" cy="685800"/>
          </a:xfrm>
          <a:prstGeom prst="rect">
            <a:avLst/>
          </a:prstGeom>
          <a:noFill/>
          <a:ln/>
        </p:spPr>
        <p:txBody>
          <a:bodyPr wrap="square" lIns="0" tIns="0" rIns="0" bIns="0" rtlCol="0" anchor="ctr"/>
          <a:lstStyle/>
          <a:p>
            <a:pPr indent="0" marL="0">
              <a:buNone/>
            </a:pPr>
            <a:r>
              <a:rPr lang="en-US" sz="1600" b="1" dirty="0">
                <a:solidFill>
                  <a:schemeClr val="tx2"/>
                </a:solidFill>
              </a:rPr>
              <a:t>Prospectus + exchange data</a:t>
            </a:r>
            <a:endParaRPr lang="en-US" sz="1400" dirty="0"/>
          </a:p>
          <a:p>
            <a:pPr indent="0" marL="0">
              <a:buNone/>
            </a:pPr>
            <a:r>
              <a:rPr lang="en-US" sz="1100" dirty="0">
                <a:solidFill>
                  <a:schemeClr val="accent4"/>
                </a:solidFill>
              </a:rPr>
              <a:t>After the issue</a:t>
            </a:r>
            <a:endParaRPr lang="en-US" sz="1400" dirty="0"/>
          </a:p>
        </p:txBody>
      </p:sp>
      <p:sp>
        <p:nvSpPr>
          <p:cNvPr id="14" name="text-36"/>
          <p:cNvSpPr txBox="1"/>
          <p:nvPr/>
        </p:nvSpPr>
        <p:spPr>
          <a:xfrm>
            <a:off x="6309360" y="2148840"/>
            <a:ext cx="224028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Final issue price</a:t>
            </a:r>
            <a:endParaRPr lang="en-US" sz="1400" dirty="0"/>
          </a:p>
          <a:p>
            <a:pPr marL="342900" indent="-342900">
              <a:spcAft>
                <a:spcPts val="400"/>
              </a:spcAft>
              <a:buSzPct val="100000"/>
              <a:buChar char="•"/>
            </a:pPr>
            <a:r>
              <a:rPr lang="en-US" sz="1400" dirty="0">
                <a:solidFill>
                  <a:schemeClr val="tx1"/>
                </a:solidFill>
              </a:rPr>
              <a:t>Listing-day prices from NSE/BSE</a:t>
            </a:r>
            <a:endParaRPr lang="en-US" sz="1400" dirty="0"/>
          </a:p>
          <a:p>
            <a:pPr marL="342900" indent="-342900">
              <a:spcAft>
                <a:spcPts val="400"/>
              </a:spcAft>
              <a:buSzPct val="100000"/>
              <a:buChar char="•"/>
            </a:pPr>
            <a:r>
              <a:rPr lang="en-US" sz="1400" dirty="0">
                <a:solidFill>
                  <a:schemeClr val="tx1"/>
                </a:solidFill>
              </a:rPr>
              <a:t>The benchmark for our model</a:t>
            </a:r>
            <a:endParaRPr lang="en-US" sz="1400" dirty="0"/>
          </a:p>
        </p:txBody>
      </p:sp>
      <p:sp>
        <p:nvSpPr>
          <p:cNvPr id="15" name="text-37"/>
          <p:cNvSpPr txBox="1"/>
          <p:nvPr/>
        </p:nvSpPr>
        <p:spPr>
          <a:xfrm>
            <a:off x="457200" y="3840480"/>
            <a:ext cx="8229600" cy="640080"/>
          </a:xfrm>
          <a:prstGeom prst="rect">
            <a:avLst/>
          </a:prstGeom>
          <a:noFill/>
          <a:ln/>
        </p:spPr>
        <p:txBody>
          <a:bodyPr wrap="square" lIns="0" tIns="0" rIns="0" bIns="0" rtlCol="0" anchor="ctr"/>
          <a:lstStyle/>
          <a:p>
            <a:pPr indent="0" marL="0">
              <a:buNone/>
            </a:pPr>
            <a:r>
              <a:rPr lang="en-US" sz="1500" b="1" dirty="0">
                <a:solidFill>
                  <a:schemeClr val="accent2"/>
                </a:solidFill>
              </a:rPr>
              <a:t>Rule we adopted: </a:t>
            </a:r>
            <a:pPr indent="0" marL="0">
              <a:buNone/>
            </a:pPr>
            <a:r>
              <a:rPr lang="en-US" sz="1500" dirty="0">
                <a:solidFill>
                  <a:schemeClr val="tx1"/>
                </a:solidFill>
              </a:rPr>
              <a:t>analyse the DRHP (or RHP) and benchmark against NSE/BSE listing data, so every sample company must already be listed.</a:t>
            </a:r>
            <a:endParaRPr lang="en-US" sz="15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Pilot sample: 10 listed IPOs</a:t>
            </a:r>
            <a:endParaRPr lang="en-US" sz="3200" dirty="0"/>
          </a:p>
        </p:txBody>
      </p:sp>
      <p:graphicFrame>
        <p:nvGraphicFramePr>
          <p:cNvPr id="6" name="table-38"/>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94560"/>
                <a:gridCol w="2651760"/>
                <a:gridCol w="1097280"/>
                <a:gridCol w="1188720"/>
                <a:gridCol w="1097280"/>
              </a:tblGrid>
              <a:tr h="274320">
                <a:tc>
                  <a:txBody>
                    <a:bodyPr/>
                    <a:lstStyle/>
                    <a:p>
                      <a:pPr algn="l" indent="0" marL="0">
                        <a:buNone/>
                      </a:pPr>
                      <a:r>
                        <a:rPr lang="en-US" sz="1200" b="1" dirty="0">
                          <a:solidFill>
                            <a:schemeClr val="bg1"/>
                          </a:solidFill>
                          <a:latin typeface="Calibri" pitchFamily="34" charset="0"/>
                          <a:ea typeface="Calibri" pitchFamily="34" charset="-122"/>
                          <a:cs typeface="Calibri" pitchFamily="34" charset="-120"/>
                        </a:rPr>
                        <a:t>Company</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200" b="1" dirty="0">
                          <a:solidFill>
                            <a:schemeClr val="bg1"/>
                          </a:solidFill>
                          <a:latin typeface="Calibri" pitchFamily="34" charset="0"/>
                          <a:ea typeface="Calibri" pitchFamily="34" charset="-122"/>
                          <a:cs typeface="Calibri" pitchFamily="34" charset="-120"/>
                        </a:rPr>
                        <a:t>Sector</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200" b="1" dirty="0">
                          <a:solidFill>
                            <a:schemeClr val="bg1"/>
                          </a:solidFill>
                          <a:latin typeface="Calibri" pitchFamily="34" charset="0"/>
                          <a:ea typeface="Calibri" pitchFamily="34" charset="-122"/>
                          <a:cs typeface="Calibri" pitchFamily="34" charset="-120"/>
                        </a:rPr>
                        <a:t>Document</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200" b="1" dirty="0">
                          <a:solidFill>
                            <a:schemeClr val="bg1"/>
                          </a:solidFill>
                          <a:latin typeface="Calibri" pitchFamily="34" charset="0"/>
                          <a:ea typeface="Calibri" pitchFamily="34" charset="-122"/>
                          <a:cs typeface="Calibri" pitchFamily="34" charset="-120"/>
                        </a:rPr>
                        <a:t>Doc date</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r" indent="0" marL="0">
                        <a:buNone/>
                      </a:pPr>
                      <a:r>
                        <a:rPr lang="en-US" sz="1200" b="1" dirty="0">
                          <a:solidFill>
                            <a:schemeClr val="bg1"/>
                          </a:solidFill>
                          <a:latin typeface="Calibri" pitchFamily="34" charset="0"/>
                          <a:ea typeface="Calibri" pitchFamily="34" charset="-122"/>
                          <a:cs typeface="Calibri" pitchFamily="34" charset="-120"/>
                        </a:rPr>
                        <a:t>Pages</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tx2"/>
                    </a:solidFill>
                  </a:tcPr>
                </a:tc>
              </a:tr>
              <a:tr h="27432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Tata Technologies</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IT / engineering services</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DRHP</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Mar 2023</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480</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Mankind Pharma</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Pharma</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DRHP</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Sep 2022</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548</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JSW Infrastructure</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Ports / infrastructure</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DRHP</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May 2023</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525</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Bajaj Housing Finance</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Housing finance (NBFC)</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DRHP</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Jun 2024</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474</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IREDA</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PSU financier (renewables)</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DRHP</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Sep 2023</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664</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Hyundai Motor India</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Automobiles</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DRHP</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Jun 2024</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436</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Honasa Consumer</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Consumer / D2C</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DRHP</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Dec 2022</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401</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DOMS Industries</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Manufacturing / stationery</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DRHP</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Aug 2023</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475</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Premier Energies</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Solar manufacturing</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b="1" dirty="0">
                          <a:solidFill>
                            <a:schemeClr val="accent2"/>
                          </a:solidFill>
                          <a:latin typeface="Calibri" pitchFamily="34" charset="0"/>
                          <a:ea typeface="Calibri" pitchFamily="34" charset="-122"/>
                          <a:cs typeface="Calibri" pitchFamily="34" charset="-120"/>
                        </a:rPr>
                        <a:t>RHP</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Aug 2024</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558</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Unicommerce eSolutions</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SaaS / e-commerce tech</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DRHP</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Jan 2024</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361</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text-39"/>
          <p:cNvSpPr txBox="1"/>
          <p:nvPr/>
        </p:nvSpPr>
        <p:spPr>
          <a:xfrm>
            <a:off x="457200" y="4224528"/>
            <a:ext cx="8229600" cy="411480"/>
          </a:xfrm>
          <a:prstGeom prst="rect">
            <a:avLst/>
          </a:prstGeom>
          <a:noFill/>
          <a:ln/>
        </p:spPr>
        <p:txBody>
          <a:bodyPr wrap="square" lIns="0" tIns="0" rIns="0" bIns="0" rtlCol="0" anchor="t"/>
          <a:lstStyle/>
          <a:p>
            <a:pPr indent="0" marL="0">
              <a:buNone/>
            </a:pPr>
            <a:r>
              <a:rPr lang="en-US" sz="1100" dirty="0">
                <a:solidFill>
                  <a:schemeClr val="accent4"/>
                </a:solidFill>
              </a:rPr>
              <a:t>Premier Energies' DRHP is not indexed, so its RHP is used. Ola Electric was replaced by Unicommerce because its DRHP could not be found.</a:t>
            </a:r>
            <a:endParaRPr lang="en-US" sz="11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The pilot sample at a glance</a:t>
            </a:r>
            <a:endParaRPr lang="en-US" sz="3200" dirty="0"/>
          </a:p>
        </p:txBody>
      </p:sp>
      <p:sp>
        <p:nvSpPr>
          <p:cNvPr id="3" name="card-40"/>
          <p:cNvSpPr/>
          <p:nvPr/>
        </p:nvSpPr>
        <p:spPr>
          <a:xfrm>
            <a:off x="457200" y="1143000"/>
            <a:ext cx="2103120" cy="1508760"/>
          </a:xfrm>
          <a:prstGeom prst="roundRect">
            <a:avLst>
              <a:gd name="adj" fmla="val 4848"/>
            </a:avLst>
          </a:prstGeom>
          <a:solidFill>
            <a:schemeClr val="bg2"/>
          </a:solidFill>
          <a:ln w="9525">
            <a:solidFill>
              <a:schemeClr val="bg2"/>
            </a:solidFill>
            <a:prstDash val="solid"/>
          </a:ln>
        </p:spPr>
      </p:sp>
      <p:sp>
        <p:nvSpPr>
          <p:cNvPr id="4" name="text-41"/>
          <p:cNvSpPr txBox="1"/>
          <p:nvPr/>
        </p:nvSpPr>
        <p:spPr>
          <a:xfrm>
            <a:off x="640080" y="1371600"/>
            <a:ext cx="1737360" cy="10972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10</a:t>
            </a:r>
            <a:endParaRPr lang="en-US" sz="1400" dirty="0"/>
          </a:p>
          <a:p>
            <a:pPr indent="0" marL="0">
              <a:buNone/>
            </a:pPr>
            <a:r>
              <a:rPr lang="en-US" sz="1300" dirty="0">
                <a:solidFill>
                  <a:schemeClr val="accent4"/>
                </a:solidFill>
              </a:rPr>
              <a:t>offer documents</a:t>
            </a:r>
            <a:endParaRPr lang="en-US" sz="1400" dirty="0"/>
          </a:p>
        </p:txBody>
      </p:sp>
      <p:sp>
        <p:nvSpPr>
          <p:cNvPr id="5" name="card-42"/>
          <p:cNvSpPr/>
          <p:nvPr/>
        </p:nvSpPr>
        <p:spPr>
          <a:xfrm>
            <a:off x="2743200" y="1143000"/>
            <a:ext cx="2103120" cy="1508760"/>
          </a:xfrm>
          <a:prstGeom prst="roundRect">
            <a:avLst>
              <a:gd name="adj" fmla="val 4848"/>
            </a:avLst>
          </a:prstGeom>
          <a:solidFill>
            <a:schemeClr val="bg2"/>
          </a:solidFill>
          <a:ln w="9525">
            <a:solidFill>
              <a:schemeClr val="bg2"/>
            </a:solidFill>
            <a:prstDash val="solid"/>
          </a:ln>
        </p:spPr>
      </p:sp>
      <p:sp>
        <p:nvSpPr>
          <p:cNvPr id="6" name="text-43"/>
          <p:cNvSpPr txBox="1"/>
          <p:nvPr/>
        </p:nvSpPr>
        <p:spPr>
          <a:xfrm>
            <a:off x="2926080" y="1371600"/>
            <a:ext cx="1737360" cy="10972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4,922</a:t>
            </a:r>
            <a:endParaRPr lang="en-US" sz="1400" dirty="0"/>
          </a:p>
          <a:p>
            <a:pPr indent="0" marL="0">
              <a:buNone/>
            </a:pPr>
            <a:r>
              <a:rPr lang="en-US" sz="1300" dirty="0">
                <a:solidFill>
                  <a:schemeClr val="accent4"/>
                </a:solidFill>
              </a:rPr>
              <a:t>pages to parse</a:t>
            </a:r>
            <a:endParaRPr lang="en-US" sz="1400" dirty="0"/>
          </a:p>
        </p:txBody>
      </p:sp>
      <p:sp>
        <p:nvSpPr>
          <p:cNvPr id="7" name="card-44"/>
          <p:cNvSpPr/>
          <p:nvPr/>
        </p:nvSpPr>
        <p:spPr>
          <a:xfrm>
            <a:off x="457200" y="2834640"/>
            <a:ext cx="2103120" cy="1508760"/>
          </a:xfrm>
          <a:prstGeom prst="roundRect">
            <a:avLst>
              <a:gd name="adj" fmla="val 4848"/>
            </a:avLst>
          </a:prstGeom>
          <a:solidFill>
            <a:schemeClr val="bg2"/>
          </a:solidFill>
          <a:ln w="9525">
            <a:solidFill>
              <a:schemeClr val="bg2"/>
            </a:solidFill>
            <a:prstDash val="solid"/>
          </a:ln>
        </p:spPr>
      </p:sp>
      <p:sp>
        <p:nvSpPr>
          <p:cNvPr id="8" name="text-45"/>
          <p:cNvSpPr txBox="1"/>
          <p:nvPr/>
        </p:nvSpPr>
        <p:spPr>
          <a:xfrm>
            <a:off x="640080" y="3063240"/>
            <a:ext cx="1737360" cy="10972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10</a:t>
            </a:r>
            <a:endParaRPr lang="en-US" sz="1400" dirty="0"/>
          </a:p>
          <a:p>
            <a:pPr indent="0" marL="0">
              <a:buNone/>
            </a:pPr>
            <a:r>
              <a:rPr lang="en-US" sz="1300" dirty="0">
                <a:solidFill>
                  <a:schemeClr val="accent4"/>
                </a:solidFill>
              </a:rPr>
              <a:t>different sectors</a:t>
            </a:r>
            <a:endParaRPr lang="en-US" sz="1400" dirty="0"/>
          </a:p>
        </p:txBody>
      </p:sp>
      <p:sp>
        <p:nvSpPr>
          <p:cNvPr id="9" name="card-46"/>
          <p:cNvSpPr/>
          <p:nvPr/>
        </p:nvSpPr>
        <p:spPr>
          <a:xfrm>
            <a:off x="2743200" y="2834640"/>
            <a:ext cx="2103120" cy="1508760"/>
          </a:xfrm>
          <a:prstGeom prst="roundRect">
            <a:avLst>
              <a:gd name="adj" fmla="val 4848"/>
            </a:avLst>
          </a:prstGeom>
          <a:solidFill>
            <a:schemeClr val="bg2"/>
          </a:solidFill>
          <a:ln w="9525">
            <a:solidFill>
              <a:schemeClr val="bg2"/>
            </a:solidFill>
            <a:prstDash val="solid"/>
          </a:ln>
        </p:spPr>
      </p:sp>
      <p:sp>
        <p:nvSpPr>
          <p:cNvPr id="10" name="text-47"/>
          <p:cNvSpPr txBox="1"/>
          <p:nvPr/>
        </p:nvSpPr>
        <p:spPr>
          <a:xfrm>
            <a:off x="2926080" y="3063240"/>
            <a:ext cx="1737360" cy="10972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110</a:t>
            </a:r>
            <a:endParaRPr lang="en-US" sz="1400" dirty="0"/>
          </a:p>
          <a:p>
            <a:pPr indent="0" marL="0">
              <a:buNone/>
            </a:pPr>
            <a:r>
              <a:rPr lang="en-US" sz="1300" dirty="0">
                <a:solidFill>
                  <a:schemeClr val="accent4"/>
                </a:solidFill>
              </a:rPr>
              <a:t>MB of source PDFs</a:t>
            </a:r>
            <a:endParaRPr lang="en-US" sz="1400" dirty="0"/>
          </a:p>
        </p:txBody>
      </p:sp>
      <p:sp>
        <p:nvSpPr>
          <p:cNvPr id="11" name="text-48"/>
          <p:cNvSpPr txBox="1"/>
          <p:nvPr/>
        </p:nvSpPr>
        <p:spPr>
          <a:xfrm>
            <a:off x="5212080" y="1143000"/>
            <a:ext cx="3474720" cy="365760"/>
          </a:xfrm>
          <a:prstGeom prst="rect">
            <a:avLst/>
          </a:prstGeom>
          <a:noFill/>
          <a:ln/>
        </p:spPr>
        <p:txBody>
          <a:bodyPr wrap="square" lIns="0" tIns="0" rIns="0" bIns="0" rtlCol="0" anchor="t"/>
          <a:lstStyle/>
          <a:p>
            <a:pPr indent="0" marL="0">
              <a:buNone/>
            </a:pPr>
            <a:r>
              <a:rPr lang="en-US" sz="1800" b="1" dirty="0">
                <a:solidFill>
                  <a:schemeClr val="tx2"/>
                </a:solidFill>
              </a:rPr>
              <a:t>Selection rules</a:t>
            </a:r>
            <a:endParaRPr lang="en-US" sz="1800" dirty="0"/>
          </a:p>
        </p:txBody>
      </p:sp>
      <p:sp>
        <p:nvSpPr>
          <p:cNvPr id="12" name="chip-49"/>
          <p:cNvSpPr/>
          <p:nvPr/>
        </p:nvSpPr>
        <p:spPr>
          <a:xfrm>
            <a:off x="5212080" y="1691640"/>
            <a:ext cx="384048" cy="384048"/>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3" name="text-50"/>
          <p:cNvSpPr txBox="1"/>
          <p:nvPr/>
        </p:nvSpPr>
        <p:spPr>
          <a:xfrm>
            <a:off x="5760720" y="1645920"/>
            <a:ext cx="2926080" cy="685800"/>
          </a:xfrm>
          <a:prstGeom prst="rect">
            <a:avLst/>
          </a:prstGeom>
          <a:noFill/>
          <a:ln/>
        </p:spPr>
        <p:txBody>
          <a:bodyPr wrap="square" lIns="0" tIns="0" rIns="0" bIns="0" rtlCol="0" anchor="t"/>
          <a:lstStyle/>
          <a:p>
            <a:pPr indent="0" marL="0">
              <a:buNone/>
            </a:pPr>
            <a:r>
              <a:rPr lang="en-US" sz="1400" b="1" dirty="0">
                <a:solidFill>
                  <a:schemeClr val="tx2"/>
                </a:solidFill>
              </a:rPr>
              <a:t>Mainboard only</a:t>
            </a:r>
            <a:endParaRPr lang="en-US" sz="1400" dirty="0"/>
          </a:p>
          <a:p>
            <a:pPr indent="0" marL="0">
              <a:buNone/>
            </a:pPr>
            <a:r>
              <a:rPr lang="en-US" sz="1300" dirty="0">
                <a:solidFill>
                  <a:schemeClr val="tx1"/>
                </a:solidFill>
              </a:rPr>
              <a:t>SME filings are thinner and laid out differently</a:t>
            </a:r>
            <a:endParaRPr lang="en-US" sz="1400" dirty="0"/>
          </a:p>
        </p:txBody>
      </p:sp>
      <p:sp>
        <p:nvSpPr>
          <p:cNvPr id="14" name="chip-51"/>
          <p:cNvSpPr/>
          <p:nvPr/>
        </p:nvSpPr>
        <p:spPr>
          <a:xfrm>
            <a:off x="5212080" y="2423160"/>
            <a:ext cx="384048" cy="384048"/>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52"/>
          <p:cNvSpPr txBox="1"/>
          <p:nvPr/>
        </p:nvSpPr>
        <p:spPr>
          <a:xfrm>
            <a:off x="5760720" y="2377440"/>
            <a:ext cx="2926080" cy="685800"/>
          </a:xfrm>
          <a:prstGeom prst="rect">
            <a:avLst/>
          </a:prstGeom>
          <a:noFill/>
          <a:ln/>
        </p:spPr>
        <p:txBody>
          <a:bodyPr wrap="square" lIns="0" tIns="0" rIns="0" bIns="0" rtlCol="0" anchor="t"/>
          <a:lstStyle/>
          <a:p>
            <a:pPr indent="0" marL="0">
              <a:buNone/>
            </a:pPr>
            <a:r>
              <a:rPr lang="en-US" sz="1400" b="1" dirty="0">
                <a:solidFill>
                  <a:schemeClr val="tx2"/>
                </a:solidFill>
              </a:rPr>
              <a:t>Already listed</a:t>
            </a:r>
            <a:endParaRPr lang="en-US" sz="1400" dirty="0"/>
          </a:p>
          <a:p>
            <a:pPr indent="0" marL="0">
              <a:buNone/>
            </a:pPr>
            <a:r>
              <a:rPr lang="en-US" sz="1300" dirty="0">
                <a:solidFill>
                  <a:schemeClr val="tx1"/>
                </a:solidFill>
              </a:rPr>
              <a:t>Needed for the price benchmark</a:t>
            </a:r>
            <a:endParaRPr lang="en-US" sz="1400" dirty="0"/>
          </a:p>
        </p:txBody>
      </p:sp>
      <p:sp>
        <p:nvSpPr>
          <p:cNvPr id="16" name="chip-53"/>
          <p:cNvSpPr/>
          <p:nvPr/>
        </p:nvSpPr>
        <p:spPr>
          <a:xfrm>
            <a:off x="5212080" y="3154680"/>
            <a:ext cx="384048" cy="384048"/>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7" name="text-54"/>
          <p:cNvSpPr txBox="1"/>
          <p:nvPr/>
        </p:nvSpPr>
        <p:spPr>
          <a:xfrm>
            <a:off x="5760720" y="3108960"/>
            <a:ext cx="2926080" cy="685800"/>
          </a:xfrm>
          <a:prstGeom prst="rect">
            <a:avLst/>
          </a:prstGeom>
          <a:noFill/>
          <a:ln/>
        </p:spPr>
        <p:txBody>
          <a:bodyPr wrap="square" lIns="0" tIns="0" rIns="0" bIns="0" rtlCol="0" anchor="t"/>
          <a:lstStyle/>
          <a:p>
            <a:pPr indent="0" marL="0">
              <a:buNone/>
            </a:pPr>
            <a:r>
              <a:rPr lang="en-US" sz="1400" b="1" dirty="0">
                <a:solidFill>
                  <a:schemeClr val="tx2"/>
                </a:solidFill>
              </a:rPr>
              <a:t>Mixed outcomes</a:t>
            </a:r>
            <a:endParaRPr lang="en-US" sz="1400" dirty="0"/>
          </a:p>
          <a:p>
            <a:pPr indent="0" marL="0">
              <a:buNone/>
            </a:pPr>
            <a:r>
              <a:rPr lang="en-US" sz="1300" dirty="0">
                <a:solidFill>
                  <a:schemeClr val="tx1"/>
                </a:solidFill>
              </a:rPr>
              <a:t>Strong and weak listing-day performers</a:t>
            </a:r>
            <a:endParaRPr lang="en-US" sz="1400" dirty="0"/>
          </a:p>
        </p:txBody>
      </p:sp>
      <p:sp>
        <p:nvSpPr>
          <p:cNvPr id="18" name="chip-55"/>
          <p:cNvSpPr/>
          <p:nvPr/>
        </p:nvSpPr>
        <p:spPr>
          <a:xfrm>
            <a:off x="5212080" y="3886200"/>
            <a:ext cx="384048" cy="384048"/>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9" name="text-56"/>
          <p:cNvSpPr txBox="1"/>
          <p:nvPr/>
        </p:nvSpPr>
        <p:spPr>
          <a:xfrm>
            <a:off x="5760720" y="3840480"/>
            <a:ext cx="2926080" cy="685800"/>
          </a:xfrm>
          <a:prstGeom prst="rect">
            <a:avLst/>
          </a:prstGeom>
          <a:noFill/>
          <a:ln/>
        </p:spPr>
        <p:txBody>
          <a:bodyPr wrap="square" lIns="0" tIns="0" rIns="0" bIns="0" rtlCol="0" anchor="t"/>
          <a:lstStyle/>
          <a:p>
            <a:pPr indent="0" marL="0">
              <a:buNone/>
            </a:pPr>
            <a:r>
              <a:rPr lang="en-US" sz="1400" b="1" dirty="0">
                <a:solidFill>
                  <a:schemeClr val="tx2"/>
                </a:solidFill>
              </a:rPr>
              <a:t>Two finance companies</a:t>
            </a:r>
            <a:endParaRPr lang="en-US" sz="1400" dirty="0"/>
          </a:p>
          <a:p>
            <a:pPr indent="0" marL="0">
              <a:buNone/>
            </a:pPr>
            <a:r>
              <a:rPr lang="en-US" sz="1300" dirty="0">
                <a:solidFill>
                  <a:schemeClr val="tx1"/>
                </a:solidFill>
              </a:rPr>
              <a:t>BFSI statements need their own mapping</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How we collected the files</a:t>
            </a:r>
            <a:endParaRPr lang="en-US" sz="3200" dirty="0"/>
          </a:p>
        </p:txBody>
      </p:sp>
      <p:sp>
        <p:nvSpPr>
          <p:cNvPr id="3" name="chip-57"/>
          <p:cNvSpPr/>
          <p:nvPr/>
        </p:nvSpPr>
        <p:spPr>
          <a:xfrm>
            <a:off x="457200" y="1143000"/>
            <a:ext cx="457200" cy="45720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4" name="arrow-58"/>
          <p:cNvSpPr/>
          <p:nvPr/>
        </p:nvSpPr>
        <p:spPr>
          <a:xfrm>
            <a:off x="1005840" y="1371600"/>
            <a:ext cx="1463040" cy="0"/>
          </a:xfrm>
          <a:prstGeom prst="line">
            <a:avLst/>
          </a:prstGeom>
          <a:noFill/>
          <a:ln w="12700">
            <a:solidFill>
              <a:schemeClr val="accent4"/>
            </a:solidFill>
            <a:prstDash val="solid"/>
            <a:tailEnd type="triangle"/>
          </a:ln>
        </p:spPr>
      </p:sp>
      <p:sp>
        <p:nvSpPr>
          <p:cNvPr id="5" name="text-59"/>
          <p:cNvSpPr txBox="1"/>
          <p:nvPr/>
        </p:nvSpPr>
        <p:spPr>
          <a:xfrm>
            <a:off x="457200" y="1737360"/>
            <a:ext cx="1920240" cy="1005840"/>
          </a:xfrm>
          <a:prstGeom prst="rect">
            <a:avLst/>
          </a:prstGeom>
          <a:noFill/>
          <a:ln/>
        </p:spPr>
        <p:txBody>
          <a:bodyPr wrap="square" lIns="0" tIns="0" rIns="0" bIns="0" rtlCol="0" anchor="t"/>
          <a:lstStyle/>
          <a:p>
            <a:pPr indent="0" marL="0">
              <a:buNone/>
            </a:pPr>
            <a:r>
              <a:rPr lang="en-US" sz="1400" b="1" dirty="0">
                <a:solidFill>
                  <a:schemeClr val="tx2"/>
                </a:solidFill>
              </a:rPr>
              <a:t>SEBI listings</a:t>
            </a:r>
            <a:endParaRPr lang="en-US" sz="1400" dirty="0"/>
          </a:p>
          <a:p>
            <a:pPr indent="0" marL="0">
              <a:buNone/>
            </a:pPr>
            <a:r>
              <a:rPr lang="en-US" sz="1300" dirty="0">
                <a:solidFill>
                  <a:schemeClr val="tx1"/>
                </a:solidFill>
              </a:rPr>
              <a:t>Filings › Public Issues: draft, RHP and final documents</a:t>
            </a:r>
            <a:endParaRPr lang="en-US" sz="1400" dirty="0"/>
          </a:p>
        </p:txBody>
      </p:sp>
      <p:sp>
        <p:nvSpPr>
          <p:cNvPr id="6" name="chip-60"/>
          <p:cNvSpPr/>
          <p:nvPr/>
        </p:nvSpPr>
        <p:spPr>
          <a:xfrm>
            <a:off x="2560320" y="1143000"/>
            <a:ext cx="457200" cy="45720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7" name="arrow-61"/>
          <p:cNvSpPr/>
          <p:nvPr/>
        </p:nvSpPr>
        <p:spPr>
          <a:xfrm>
            <a:off x="3108960" y="1371600"/>
            <a:ext cx="1463040" cy="0"/>
          </a:xfrm>
          <a:prstGeom prst="line">
            <a:avLst/>
          </a:prstGeom>
          <a:noFill/>
          <a:ln w="12700">
            <a:solidFill>
              <a:schemeClr val="accent4"/>
            </a:solidFill>
            <a:prstDash val="solid"/>
            <a:tailEnd type="triangle"/>
          </a:ln>
        </p:spPr>
      </p:sp>
      <p:sp>
        <p:nvSpPr>
          <p:cNvPr id="8" name="text-62"/>
          <p:cNvSpPr txBox="1"/>
          <p:nvPr/>
        </p:nvSpPr>
        <p:spPr>
          <a:xfrm>
            <a:off x="2560320" y="1737360"/>
            <a:ext cx="1920240" cy="1005840"/>
          </a:xfrm>
          <a:prstGeom prst="rect">
            <a:avLst/>
          </a:prstGeom>
          <a:noFill/>
          <a:ln/>
        </p:spPr>
        <p:txBody>
          <a:bodyPr wrap="square" lIns="0" tIns="0" rIns="0" bIns="0" rtlCol="0" anchor="t"/>
          <a:lstStyle/>
          <a:p>
            <a:pPr indent="0" marL="0">
              <a:buNone/>
            </a:pPr>
            <a:r>
              <a:rPr lang="en-US" sz="1400" b="1" dirty="0">
                <a:solidFill>
                  <a:schemeClr val="tx2"/>
                </a:solidFill>
              </a:rPr>
              <a:t>Filing page</a:t>
            </a:r>
            <a:endParaRPr lang="en-US" sz="1400" dirty="0"/>
          </a:p>
          <a:p>
            <a:pPr indent="0" marL="0">
              <a:buNone/>
            </a:pPr>
            <a:r>
              <a:rPr lang="en-US" sz="1300" dirty="0">
                <a:solidFill>
                  <a:schemeClr val="tx1"/>
                </a:solidFill>
              </a:rPr>
              <a:t>One page per document, found via web search</a:t>
            </a:r>
            <a:endParaRPr lang="en-US" sz="1400" dirty="0"/>
          </a:p>
        </p:txBody>
      </p:sp>
      <p:sp>
        <p:nvSpPr>
          <p:cNvPr id="9" name="chip-63"/>
          <p:cNvSpPr/>
          <p:nvPr/>
        </p:nvSpPr>
        <p:spPr>
          <a:xfrm>
            <a:off x="4663440" y="1143000"/>
            <a:ext cx="457200" cy="45720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0" name="arrow-64"/>
          <p:cNvSpPr/>
          <p:nvPr/>
        </p:nvSpPr>
        <p:spPr>
          <a:xfrm>
            <a:off x="5212080" y="1371600"/>
            <a:ext cx="1463040" cy="0"/>
          </a:xfrm>
          <a:prstGeom prst="line">
            <a:avLst/>
          </a:prstGeom>
          <a:noFill/>
          <a:ln w="12700">
            <a:solidFill>
              <a:schemeClr val="accent4"/>
            </a:solidFill>
            <a:prstDash val="solid"/>
            <a:tailEnd type="triangle"/>
          </a:ln>
        </p:spPr>
      </p:sp>
      <p:sp>
        <p:nvSpPr>
          <p:cNvPr id="11" name="text-65"/>
          <p:cNvSpPr txBox="1"/>
          <p:nvPr/>
        </p:nvSpPr>
        <p:spPr>
          <a:xfrm>
            <a:off x="4663440" y="1737360"/>
            <a:ext cx="1920240" cy="1005840"/>
          </a:xfrm>
          <a:prstGeom prst="rect">
            <a:avLst/>
          </a:prstGeom>
          <a:noFill/>
          <a:ln/>
        </p:spPr>
        <p:txBody>
          <a:bodyPr wrap="square" lIns="0" tIns="0" rIns="0" bIns="0" rtlCol="0" anchor="t"/>
          <a:lstStyle/>
          <a:p>
            <a:pPr indent="0" marL="0">
              <a:buNone/>
            </a:pPr>
            <a:r>
              <a:rPr lang="en-US" sz="1400" b="1" dirty="0">
                <a:solidFill>
                  <a:schemeClr val="tx2"/>
                </a:solidFill>
              </a:rPr>
              <a:t>PDF link</a:t>
            </a:r>
            <a:endParaRPr lang="en-US" sz="1400" dirty="0"/>
          </a:p>
          <a:p>
            <a:pPr indent="0" marL="0">
              <a:buNone/>
            </a:pPr>
            <a:r>
              <a:rPr lang="en-US" sz="1300" dirty="0">
                <a:solidFill>
                  <a:schemeClr val="tx1"/>
                </a:solidFill>
              </a:rPr>
              <a:t>Read the embedded document link from the page</a:t>
            </a:r>
            <a:endParaRPr lang="en-US" sz="1400" dirty="0"/>
          </a:p>
        </p:txBody>
      </p:sp>
      <p:sp>
        <p:nvSpPr>
          <p:cNvPr id="12" name="chip-66"/>
          <p:cNvSpPr/>
          <p:nvPr/>
        </p:nvSpPr>
        <p:spPr>
          <a:xfrm>
            <a:off x="6766560" y="1143000"/>
            <a:ext cx="457200" cy="45720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3" name="text-67"/>
          <p:cNvSpPr txBox="1"/>
          <p:nvPr/>
        </p:nvSpPr>
        <p:spPr>
          <a:xfrm>
            <a:off x="6766560" y="1737360"/>
            <a:ext cx="1920240" cy="1005840"/>
          </a:xfrm>
          <a:prstGeom prst="rect">
            <a:avLst/>
          </a:prstGeom>
          <a:noFill/>
          <a:ln/>
        </p:spPr>
        <p:txBody>
          <a:bodyPr wrap="square" lIns="0" tIns="0" rIns="0" bIns="0" rtlCol="0" anchor="t"/>
          <a:lstStyle/>
          <a:p>
            <a:pPr indent="0" marL="0">
              <a:buNone/>
            </a:pPr>
            <a:r>
              <a:rPr lang="en-US" sz="1400" b="1" dirty="0">
                <a:solidFill>
                  <a:schemeClr val="tx2"/>
                </a:solidFill>
              </a:rPr>
              <a:t>Verify</a:t>
            </a:r>
            <a:endParaRPr lang="en-US" sz="1400" dirty="0"/>
          </a:p>
          <a:p>
            <a:pPr indent="0" marL="0">
              <a:buNone/>
            </a:pPr>
            <a:r>
              <a:rPr lang="en-US" sz="1300" dirty="0">
                <a:solidFill>
                  <a:schemeClr val="tx1"/>
                </a:solidFill>
              </a:rPr>
              <a:t>PDF header, page count and cover date checked</a:t>
            </a:r>
            <a:endParaRPr lang="en-US" sz="1400" dirty="0"/>
          </a:p>
        </p:txBody>
      </p:sp>
      <p:sp>
        <p:nvSpPr>
          <p:cNvPr id="14" name="card-68"/>
          <p:cNvSpPr/>
          <p:nvPr/>
        </p:nvSpPr>
        <p:spPr>
          <a:xfrm>
            <a:off x="457200" y="2926080"/>
            <a:ext cx="3977640" cy="1600200"/>
          </a:xfrm>
          <a:prstGeom prst="roundRect">
            <a:avLst>
              <a:gd name="adj" fmla="val 4571"/>
            </a:avLst>
          </a:prstGeom>
          <a:solidFill>
            <a:schemeClr val="bg2"/>
          </a:solidFill>
          <a:ln w="9525">
            <a:solidFill>
              <a:schemeClr val="bg2"/>
            </a:solidFill>
            <a:prstDash val="solid"/>
          </a:ln>
        </p:spPr>
      </p:sp>
      <p:sp>
        <p:nvSpPr>
          <p:cNvPr id="15" name="text-69"/>
          <p:cNvSpPr txBox="1"/>
          <p:nvPr/>
        </p:nvSpPr>
        <p:spPr>
          <a:xfrm>
            <a:off x="640080" y="3063240"/>
            <a:ext cx="3657600" cy="1371600"/>
          </a:xfrm>
          <a:prstGeom prst="rect">
            <a:avLst/>
          </a:prstGeom>
          <a:noFill/>
          <a:ln/>
        </p:spPr>
        <p:txBody>
          <a:bodyPr wrap="square" lIns="0" tIns="0" rIns="0" bIns="0" rtlCol="0" anchor="t"/>
          <a:lstStyle/>
          <a:p>
            <a:pPr indent="0" marL="0">
              <a:spcAft>
                <a:spcPts val="300"/>
              </a:spcAft>
              <a:buNone/>
            </a:pPr>
            <a:r>
              <a:rPr lang="en-US" sz="1500" b="1" dirty="0">
                <a:solidFill>
                  <a:schemeClr val="tx2"/>
                </a:solidFill>
              </a:rPr>
              <a:t>Problems we hit</a:t>
            </a:r>
            <a:endParaRPr lang="en-US" sz="1400" dirty="0"/>
          </a:p>
          <a:p>
            <a:pPr marL="342900" indent="-342900">
              <a:spcAft>
                <a:spcPts val="300"/>
              </a:spcAft>
              <a:buSzPct val="100000"/>
              <a:buChar char="•"/>
            </a:pPr>
            <a:r>
              <a:rPr lang="en-US" sz="1400" dirty="0">
                <a:solidFill>
                  <a:schemeClr val="tx1"/>
                </a:solidFill>
              </a:rPr>
              <a:t>SEBI's firewall blocked scripted search</a:t>
            </a:r>
            <a:endParaRPr lang="en-US" sz="1400" dirty="0"/>
          </a:p>
          <a:p>
            <a:pPr marL="342900" indent="-342900">
              <a:spcAft>
                <a:spcPts val="300"/>
              </a:spcAft>
              <a:buSzPct val="100000"/>
              <a:buChar char="•"/>
            </a:pPr>
            <a:r>
              <a:rPr lang="en-US" sz="1400" dirty="0">
                <a:solidFill>
                  <a:schemeClr val="tx1"/>
                </a:solidFill>
              </a:rPr>
              <a:t>One download was truncated: retried</a:t>
            </a:r>
            <a:endParaRPr lang="en-US" sz="1400" dirty="0"/>
          </a:p>
          <a:p>
            <a:pPr marL="342900" indent="-342900">
              <a:spcAft>
                <a:spcPts val="300"/>
              </a:spcAft>
              <a:buSzPct val="100000"/>
              <a:buChar char="•"/>
            </a:pPr>
            <a:r>
              <a:rPr lang="en-US" sz="1400" dirty="0">
                <a:solidFill>
                  <a:schemeClr val="tx1"/>
                </a:solidFill>
              </a:rPr>
              <a:t>One link ended in .PDF: pattern fixed</a:t>
            </a:r>
            <a:endParaRPr lang="en-US" sz="1400" dirty="0"/>
          </a:p>
        </p:txBody>
      </p:sp>
      <p:sp>
        <p:nvSpPr>
          <p:cNvPr id="16" name="card-70"/>
          <p:cNvSpPr/>
          <p:nvPr/>
        </p:nvSpPr>
        <p:spPr>
          <a:xfrm>
            <a:off x="4709160" y="2926080"/>
            <a:ext cx="3977640" cy="1600200"/>
          </a:xfrm>
          <a:prstGeom prst="roundRect">
            <a:avLst>
              <a:gd name="adj" fmla="val 4571"/>
            </a:avLst>
          </a:prstGeom>
          <a:solidFill>
            <a:schemeClr val="bg2"/>
          </a:solidFill>
          <a:ln w="9525">
            <a:solidFill>
              <a:schemeClr val="bg2"/>
            </a:solidFill>
            <a:prstDash val="solid"/>
          </a:ln>
        </p:spPr>
      </p:sp>
      <p:sp>
        <p:nvSpPr>
          <p:cNvPr id="17" name="text-71"/>
          <p:cNvSpPr txBox="1"/>
          <p:nvPr/>
        </p:nvSpPr>
        <p:spPr>
          <a:xfrm>
            <a:off x="4892040" y="3063240"/>
            <a:ext cx="3657600" cy="1371600"/>
          </a:xfrm>
          <a:prstGeom prst="rect">
            <a:avLst/>
          </a:prstGeom>
          <a:noFill/>
          <a:ln/>
        </p:spPr>
        <p:txBody>
          <a:bodyPr wrap="square" lIns="0" tIns="0" rIns="0" bIns="0" rtlCol="0" anchor="t"/>
          <a:lstStyle/>
          <a:p>
            <a:pPr indent="0" marL="0">
              <a:spcAft>
                <a:spcPts val="300"/>
              </a:spcAft>
              <a:buNone/>
            </a:pPr>
            <a:r>
              <a:rPr lang="en-US" sz="1500" b="1" dirty="0">
                <a:solidFill>
                  <a:schemeClr val="tx2"/>
                </a:solidFill>
              </a:rPr>
              <a:t>Output</a:t>
            </a:r>
            <a:endParaRPr lang="en-US" sz="1400" dirty="0"/>
          </a:p>
          <a:p>
            <a:pPr marL="342900" indent="-342900">
              <a:spcAft>
                <a:spcPts val="300"/>
              </a:spcAft>
              <a:buSzPct val="100000"/>
              <a:buChar char="•"/>
            </a:pPr>
            <a:r>
              <a:rPr lang="en-US" sz="1400" dirty="0">
                <a:solidFill>
                  <a:schemeClr val="tx1"/>
                </a:solidFill>
              </a:rPr>
              <a:t>data/raw/drhp/: the 10 PDFs</a:t>
            </a:r>
            <a:endParaRPr lang="en-US" sz="1400" dirty="0"/>
          </a:p>
          <a:p>
            <a:pPr marL="342900" indent="-342900">
              <a:spcAft>
                <a:spcPts val="300"/>
              </a:spcAft>
              <a:buSzPct val="100000"/>
              <a:buChar char="•"/>
            </a:pPr>
            <a:r>
              <a:rPr lang="en-US" sz="1400" dirty="0">
                <a:solidFill>
                  <a:schemeClr val="tx1"/>
                </a:solidFill>
              </a:rPr>
              <a:t>data/manifest.csv: source URL, date, sector, pages</a:t>
            </a:r>
            <a:endParaRPr lang="en-US" sz="1400" dirty="0"/>
          </a:p>
          <a:p>
            <a:pPr marL="342900" indent="-342900">
              <a:spcAft>
                <a:spcPts val="300"/>
              </a:spcAft>
              <a:buSzPct val="100000"/>
              <a:buChar char="•"/>
            </a:pPr>
            <a:r>
              <a:rPr lang="en-US" sz="1400" dirty="0">
                <a:solidFill>
                  <a:schemeClr val="tx1"/>
                </a:solidFill>
              </a:rPr>
              <a:t>Price columns to be filled from NSE/BSE</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1325880"/>
            <a:ext cx="3657600" cy="457200"/>
          </a:xfrm>
          <a:prstGeom prst="rect">
            <a:avLst/>
          </a:prstGeom>
          <a:noFill/>
          <a:ln/>
        </p:spPr>
        <p:txBody>
          <a:bodyPr wrap="square" lIns="0" tIns="0" rIns="0" bIns="0" rtlCol="0" anchor="b"/>
          <a:lstStyle/>
          <a:p>
            <a:pPr algn="l" indent="0" marL="0">
              <a:buNone/>
            </a:pPr>
            <a:r>
              <a:rPr lang="en-US" sz="1800" b="1" dirty="0">
                <a:solidFill>
                  <a:schemeClr val="accent2"/>
                </a:solidFill>
              </a:rPr>
              <a:t>02</a:t>
            </a:r>
            <a:endParaRPr lang="en-US" sz="1800" dirty="0"/>
          </a:p>
        </p:txBody>
      </p:sp>
      <p:sp>
        <p:nvSpPr>
          <p:cNvPr id="3" name="Text 1"/>
          <p:cNvSpPr/>
          <p:nvPr>
            <p:ph idx="102" type="title" hasCustomPrompt="1"/>
          </p:nvPr>
        </p:nvSpPr>
        <p:spPr>
          <a:xfrm>
            <a:off x="548640" y="1828800"/>
            <a:ext cx="8046720" cy="914400"/>
          </a:xfrm>
          <a:prstGeom prst="rect">
            <a:avLst/>
          </a:prstGeom>
          <a:noFill/>
          <a:ln/>
        </p:spPr>
        <p:txBody>
          <a:bodyPr wrap="square" lIns="0" tIns="0" rIns="0" bIns="0" rtlCol="0" anchor="t"/>
          <a:lstStyle/>
          <a:p>
            <a:pPr algn="l" indent="0" marL="0">
              <a:buNone/>
            </a:pPr>
            <a:r>
              <a:rPr lang="en-US" sz="4000" b="1" dirty="0">
                <a:solidFill>
                  <a:schemeClr val="bg1"/>
                </a:solidFill>
              </a:rPr>
              <a:t>PDF parsing</a:t>
            </a:r>
            <a:endParaRPr lang="en-US" sz="4000" dirty="0"/>
          </a:p>
        </p:txBody>
      </p:sp>
      <p:sp>
        <p:nvSpPr>
          <p:cNvPr id="4" name="Text 1"/>
          <p:cNvSpPr/>
          <p:nvPr>
            <p:ph idx="103" type="body" hasCustomPrompt="1"/>
          </p:nvPr>
        </p:nvSpPr>
        <p:spPr>
          <a:xfrm>
            <a:off x="548640" y="2788920"/>
            <a:ext cx="8046720" cy="822960"/>
          </a:xfrm>
          <a:prstGeom prst="rect">
            <a:avLst/>
          </a:prstGeom>
          <a:noFill/>
          <a:ln/>
        </p:spPr>
        <p:txBody>
          <a:bodyPr wrap="square" lIns="0" tIns="0" rIns="0" bIns="0" rtlCol="0" anchor="t"/>
          <a:lstStyle/>
          <a:p>
            <a:pPr algn="l" indent="0" marL="0">
              <a:buNone/>
            </a:pPr>
            <a:r>
              <a:rPr lang="en-US" sz="1800" dirty="0">
                <a:solidFill>
                  <a:schemeClr val="bg2"/>
                </a:solidFill>
              </a:rPr>
              <a:t>Turning 500-page filings into pages tagged with their DRHP section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How the parser works</a:t>
            </a:r>
            <a:endParaRPr lang="en-US" sz="3200" dirty="0"/>
          </a:p>
        </p:txBody>
      </p:sp>
      <p:sp>
        <p:nvSpPr>
          <p:cNvPr id="3" name="chip-72"/>
          <p:cNvSpPr/>
          <p:nvPr/>
        </p:nvSpPr>
        <p:spPr>
          <a:xfrm>
            <a:off x="457200" y="1143000"/>
            <a:ext cx="457200" cy="45720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4" name="text-73"/>
          <p:cNvSpPr txBox="1"/>
          <p:nvPr/>
        </p:nvSpPr>
        <p:spPr>
          <a:xfrm>
            <a:off x="1097280" y="1124712"/>
            <a:ext cx="4206240" cy="777240"/>
          </a:xfrm>
          <a:prstGeom prst="rect">
            <a:avLst/>
          </a:prstGeom>
          <a:noFill/>
          <a:ln/>
        </p:spPr>
        <p:txBody>
          <a:bodyPr wrap="square" lIns="0" tIns="0" rIns="0" bIns="0" rtlCol="0" anchor="t"/>
          <a:lstStyle/>
          <a:p>
            <a:pPr indent="0" marL="0">
              <a:buNone/>
            </a:pPr>
            <a:r>
              <a:rPr lang="en-US" sz="1500" b="1" dirty="0">
                <a:solidFill>
                  <a:schemeClr val="tx2"/>
                </a:solidFill>
              </a:rPr>
              <a:t>Read the table of contents</a:t>
            </a:r>
            <a:endParaRPr lang="en-US" sz="1400" dirty="0"/>
          </a:p>
          <a:p>
            <a:pPr indent="0" marL="0">
              <a:buNone/>
            </a:pPr>
            <a:r>
              <a:rPr lang="en-US" sz="1300" dirty="0">
                <a:solidFill>
                  <a:schemeClr val="tx1"/>
                </a:solidFill>
              </a:rPr>
              <a:t>SEBI fixes the section order, so every DRHP lists its chapters with page numbers</a:t>
            </a:r>
            <a:endParaRPr lang="en-US" sz="1400" dirty="0"/>
          </a:p>
        </p:txBody>
      </p:sp>
      <p:sp>
        <p:nvSpPr>
          <p:cNvPr id="5" name="chip-74"/>
          <p:cNvSpPr/>
          <p:nvPr/>
        </p:nvSpPr>
        <p:spPr>
          <a:xfrm>
            <a:off x="457200" y="2011680"/>
            <a:ext cx="457200" cy="45720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6" name="text-75"/>
          <p:cNvSpPr txBox="1"/>
          <p:nvPr/>
        </p:nvSpPr>
        <p:spPr>
          <a:xfrm>
            <a:off x="1097280" y="1993392"/>
            <a:ext cx="4206240" cy="777240"/>
          </a:xfrm>
          <a:prstGeom prst="rect">
            <a:avLst/>
          </a:prstGeom>
          <a:noFill/>
          <a:ln/>
        </p:spPr>
        <p:txBody>
          <a:bodyPr wrap="square" lIns="0" tIns="0" rIns="0" bIns="0" rtlCol="0" anchor="t"/>
          <a:lstStyle/>
          <a:p>
            <a:pPr indent="0" marL="0">
              <a:buNone/>
            </a:pPr>
            <a:r>
              <a:rPr lang="en-US" sz="1500" b="1" dirty="0">
                <a:solidFill>
                  <a:schemeClr val="tx2"/>
                </a:solidFill>
              </a:rPr>
              <a:t>Map printed pages to PDF pages</a:t>
            </a:r>
            <a:endParaRPr lang="en-US" sz="1400" dirty="0"/>
          </a:p>
          <a:p>
            <a:pPr indent="0" marL="0">
              <a:buNone/>
            </a:pPr>
            <a:r>
              <a:rPr lang="en-US" sz="1300" dirty="0">
                <a:solidFill>
                  <a:schemeClr val="tx1"/>
                </a:solidFill>
              </a:rPr>
              <a:t>Read the number printed on each page; the most common offset wins</a:t>
            </a:r>
            <a:endParaRPr lang="en-US" sz="1400" dirty="0"/>
          </a:p>
        </p:txBody>
      </p:sp>
      <p:sp>
        <p:nvSpPr>
          <p:cNvPr id="7" name="chip-76"/>
          <p:cNvSpPr/>
          <p:nvPr/>
        </p:nvSpPr>
        <p:spPr>
          <a:xfrm>
            <a:off x="457200" y="2880360"/>
            <a:ext cx="457200" cy="45720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8" name="text-77"/>
          <p:cNvSpPr txBox="1"/>
          <p:nvPr/>
        </p:nvSpPr>
        <p:spPr>
          <a:xfrm>
            <a:off x="1097280" y="2862072"/>
            <a:ext cx="4206240" cy="777240"/>
          </a:xfrm>
          <a:prstGeom prst="rect">
            <a:avLst/>
          </a:prstGeom>
          <a:noFill/>
          <a:ln/>
        </p:spPr>
        <p:txBody>
          <a:bodyPr wrap="square" lIns="0" tIns="0" rIns="0" bIns="0" rtlCol="0" anchor="t"/>
          <a:lstStyle/>
          <a:p>
            <a:pPr indent="0" marL="0">
              <a:buNone/>
            </a:pPr>
            <a:r>
              <a:rPr lang="en-US" sz="1500" b="1" dirty="0">
                <a:solidFill>
                  <a:schemeClr val="tx2"/>
                </a:solidFill>
              </a:rPr>
              <a:t>Tag every page</a:t>
            </a:r>
            <a:endParaRPr lang="en-US" sz="1400" dirty="0"/>
          </a:p>
          <a:p>
            <a:pPr indent="0" marL="0">
              <a:buNone/>
            </a:pPr>
            <a:r>
              <a:rPr lang="en-US" sz="1300" dirty="0">
                <a:solidFill>
                  <a:schemeClr val="tx1"/>
                </a:solidFill>
              </a:rPr>
              <a:t>Section, chapter and a standard key such as basis_for_offer_price</a:t>
            </a:r>
            <a:endParaRPr lang="en-US" sz="1400" dirty="0"/>
          </a:p>
        </p:txBody>
      </p:sp>
      <p:sp>
        <p:nvSpPr>
          <p:cNvPr id="9" name="chip-78"/>
          <p:cNvSpPr/>
          <p:nvPr/>
        </p:nvSpPr>
        <p:spPr>
          <a:xfrm>
            <a:off x="457200" y="3749040"/>
            <a:ext cx="457200" cy="457200"/>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0" name="text-79"/>
          <p:cNvSpPr txBox="1"/>
          <p:nvPr/>
        </p:nvSpPr>
        <p:spPr>
          <a:xfrm>
            <a:off x="1097280" y="3730752"/>
            <a:ext cx="4206240" cy="777240"/>
          </a:xfrm>
          <a:prstGeom prst="rect">
            <a:avLst/>
          </a:prstGeom>
          <a:noFill/>
          <a:ln/>
        </p:spPr>
        <p:txBody>
          <a:bodyPr wrap="square" lIns="0" tIns="0" rIns="0" bIns="0" rtlCol="0" anchor="t"/>
          <a:lstStyle/>
          <a:p>
            <a:pPr indent="0" marL="0">
              <a:buNone/>
            </a:pPr>
            <a:r>
              <a:rPr lang="en-US" sz="1500" b="1" dirty="0">
                <a:solidFill>
                  <a:schemeClr val="tx2"/>
                </a:solidFill>
              </a:rPr>
              <a:t>Self-check</a:t>
            </a:r>
            <a:endParaRPr lang="en-US" sz="1400" dirty="0"/>
          </a:p>
          <a:p>
            <a:pPr indent="0" marL="0">
              <a:buNone/>
            </a:pPr>
            <a:r>
              <a:rPr lang="en-US" sz="1300" dirty="0">
                <a:solidFill>
                  <a:schemeClr val="tx1"/>
                </a:solidFill>
              </a:rPr>
              <a:t>Confirm each chapter title appears on its mapped start page</a:t>
            </a:r>
            <a:endParaRPr lang="en-US" sz="1400" dirty="0"/>
          </a:p>
        </p:txBody>
      </p:sp>
      <p:sp>
        <p:nvSpPr>
          <p:cNvPr id="11" name="card-80"/>
          <p:cNvSpPr/>
          <p:nvPr/>
        </p:nvSpPr>
        <p:spPr>
          <a:xfrm>
            <a:off x="5577840" y="1143000"/>
            <a:ext cx="3108960" cy="2514600"/>
          </a:xfrm>
          <a:prstGeom prst="roundRect">
            <a:avLst>
              <a:gd name="adj" fmla="val 2909"/>
            </a:avLst>
          </a:prstGeom>
          <a:solidFill>
            <a:schemeClr val="bg2"/>
          </a:solidFill>
          <a:ln w="9525">
            <a:solidFill>
              <a:schemeClr val="bg2"/>
            </a:solidFill>
            <a:prstDash val="solid"/>
          </a:ln>
        </p:spPr>
      </p:sp>
      <p:sp>
        <p:nvSpPr>
          <p:cNvPr id="12" name="text-81"/>
          <p:cNvSpPr txBox="1"/>
          <p:nvPr/>
        </p:nvSpPr>
        <p:spPr>
          <a:xfrm>
            <a:off x="5806440" y="1325880"/>
            <a:ext cx="2697480" cy="2240280"/>
          </a:xfrm>
          <a:prstGeom prst="rect">
            <a:avLst/>
          </a:prstGeom>
          <a:noFill/>
          <a:ln/>
        </p:spPr>
        <p:txBody>
          <a:bodyPr wrap="square" lIns="0" tIns="0" rIns="0" bIns="0" rtlCol="0" anchor="t"/>
          <a:lstStyle/>
          <a:p>
            <a:pPr indent="0" marL="0">
              <a:buNone/>
            </a:pPr>
            <a:r>
              <a:rPr lang="en-US" sz="1500" b="1" dirty="0">
                <a:solidFill>
                  <a:schemeClr val="tx2"/>
                </a:solidFill>
              </a:rPr>
              <a:t>Output per document</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1"/>
                </a:solidFill>
              </a:rPr>
              <a:t>pages.jsonl</a:t>
            </a:r>
            <a:endParaRPr lang="en-US" sz="1400" dirty="0"/>
          </a:p>
          <a:p>
            <a:pPr indent="0" marL="0">
              <a:buNone/>
            </a:pPr>
            <a:r>
              <a:rPr lang="en-US" sz="1300" dirty="0">
                <a:solidFill>
                  <a:schemeClr val="tx1"/>
                </a:solidFill>
              </a:rPr>
              <a:t>One record per page: page numbers, section, chapter, text</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1"/>
                </a:solidFill>
              </a:rPr>
              <a:t>sections.json</a:t>
            </a:r>
            <a:endParaRPr lang="en-US" sz="1400" dirty="0"/>
          </a:p>
          <a:p>
            <a:pPr indent="0" marL="0">
              <a:buNone/>
            </a:pPr>
            <a:r>
              <a:rPr lang="en-US" sz="1300" dirty="0">
                <a:solidFill>
                  <a:schemeClr val="tx1"/>
                </a:solidFill>
              </a:rPr>
              <a:t>Chapter map with start and end pages</a:t>
            </a:r>
            <a:endParaRPr lang="en-US" sz="1400" dirty="0"/>
          </a:p>
          <a:p>
            <a:pPr indent="0" marL="0">
              <a:buNone/>
            </a:pPr>
            <a:r>
              <a:rPr lang="en-US" sz="600" dirty="0">
                <a:solidFill>
                  <a:schemeClr val="tx1"/>
                </a:solidFill>
              </a:rPr>
              <a:t> </a:t>
            </a:r>
            <a:endParaRPr lang="en-US" sz="1400" dirty="0"/>
          </a:p>
          <a:p>
            <a:pPr indent="0" marL="0">
              <a:buNone/>
            </a:pPr>
            <a:r>
              <a:rPr lang="en-US" sz="1200" dirty="0">
                <a:solidFill>
                  <a:schemeClr val="accent4"/>
                </a:solidFill>
              </a:rPr>
              <a:t>Code: src/parse_drhp.py</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Every chapter was located</a:t>
            </a:r>
            <a:endParaRPr lang="en-US" sz="3200" dirty="0"/>
          </a:p>
        </p:txBody>
      </p:sp>
      <p:graphicFrame>
        <p:nvGraphicFramePr>
          <p:cNvPr id="3" name="chart-82" descr=""/>
          <p:cNvGraphicFramePr/>
          <p:nvPr/>
        </p:nvGraphicFramePr>
        <p:xfrm>
          <a:off x="365760" y="1051560"/>
          <a:ext cx="4937760" cy="3566160"/>
        </p:xfrm>
        <a:graphic xmlns:a="http://schemas.openxmlformats.org/drawingml/2006/main">
          <a:graphicData uri="http://schemas.openxmlformats.org/drawingml/2006/chart">
            <c:chart xmlns:c="http://schemas.openxmlformats.org/drawingml/2006/chart" r:id="rId1"/>
          </a:graphicData>
        </a:graphic>
      </p:graphicFrame>
      <p:sp>
        <p:nvSpPr>
          <p:cNvPr id="4" name="card-83"/>
          <p:cNvSpPr/>
          <p:nvPr/>
        </p:nvSpPr>
        <p:spPr>
          <a:xfrm>
            <a:off x="5577840" y="1143000"/>
            <a:ext cx="3108960" cy="1005840"/>
          </a:xfrm>
          <a:prstGeom prst="roundRect">
            <a:avLst>
              <a:gd name="adj" fmla="val 7273"/>
            </a:avLst>
          </a:prstGeom>
          <a:solidFill>
            <a:schemeClr val="bg2"/>
          </a:solidFill>
          <a:ln w="9525">
            <a:solidFill>
              <a:schemeClr val="bg2"/>
            </a:solidFill>
            <a:prstDash val="solid"/>
          </a:ln>
        </p:spPr>
      </p:sp>
      <p:sp>
        <p:nvSpPr>
          <p:cNvPr id="5" name="text-84"/>
          <p:cNvSpPr txBox="1"/>
          <p:nvPr/>
        </p:nvSpPr>
        <p:spPr>
          <a:xfrm>
            <a:off x="5760720" y="1252728"/>
            <a:ext cx="2788920" cy="8229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358 / 358</a:t>
            </a:r>
            <a:endParaRPr lang="en-US" sz="1400" dirty="0"/>
          </a:p>
          <a:p>
            <a:pPr indent="0" marL="0">
              <a:buNone/>
            </a:pPr>
            <a:r>
              <a:rPr lang="en-US" sz="1200" dirty="0">
                <a:solidFill>
                  <a:schemeClr val="accent4"/>
                </a:solidFill>
              </a:rPr>
              <a:t>chapters found on their mapped start page</a:t>
            </a:r>
            <a:endParaRPr lang="en-US" sz="1400" dirty="0"/>
          </a:p>
        </p:txBody>
      </p:sp>
      <p:sp>
        <p:nvSpPr>
          <p:cNvPr id="6" name="card-85"/>
          <p:cNvSpPr/>
          <p:nvPr/>
        </p:nvSpPr>
        <p:spPr>
          <a:xfrm>
            <a:off x="5577840" y="2286000"/>
            <a:ext cx="3108960" cy="1005840"/>
          </a:xfrm>
          <a:prstGeom prst="roundRect">
            <a:avLst>
              <a:gd name="adj" fmla="val 7273"/>
            </a:avLst>
          </a:prstGeom>
          <a:solidFill>
            <a:schemeClr val="bg2"/>
          </a:solidFill>
          <a:ln w="9525">
            <a:solidFill>
              <a:schemeClr val="bg2"/>
            </a:solidFill>
            <a:prstDash val="solid"/>
          </a:ln>
        </p:spPr>
      </p:sp>
      <p:sp>
        <p:nvSpPr>
          <p:cNvPr id="7" name="text-86"/>
          <p:cNvSpPr txBox="1"/>
          <p:nvPr/>
        </p:nvSpPr>
        <p:spPr>
          <a:xfrm>
            <a:off x="5760720" y="2395728"/>
            <a:ext cx="2788920" cy="8229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96–100%</a:t>
            </a:r>
            <a:endParaRPr lang="en-US" sz="1400" dirty="0"/>
          </a:p>
          <a:p>
            <a:pPr indent="0" marL="0">
              <a:buNone/>
            </a:pPr>
            <a:r>
              <a:rPr lang="en-US" sz="1200" dirty="0">
                <a:solidFill>
                  <a:schemeClr val="accent4"/>
                </a:solidFill>
              </a:rPr>
              <a:t>of page numbers agree with the computed offset</a:t>
            </a:r>
            <a:endParaRPr lang="en-US" sz="1400" dirty="0"/>
          </a:p>
        </p:txBody>
      </p:sp>
      <p:sp>
        <p:nvSpPr>
          <p:cNvPr id="8" name="card-87"/>
          <p:cNvSpPr/>
          <p:nvPr/>
        </p:nvSpPr>
        <p:spPr>
          <a:xfrm>
            <a:off x="5577840" y="3429000"/>
            <a:ext cx="3108960" cy="1005840"/>
          </a:xfrm>
          <a:prstGeom prst="roundRect">
            <a:avLst>
              <a:gd name="adj" fmla="val 7273"/>
            </a:avLst>
          </a:prstGeom>
          <a:solidFill>
            <a:schemeClr val="bg2"/>
          </a:solidFill>
          <a:ln w="9525">
            <a:solidFill>
              <a:schemeClr val="bg2"/>
            </a:solidFill>
            <a:prstDash val="solid"/>
          </a:ln>
        </p:spPr>
      </p:sp>
      <p:sp>
        <p:nvSpPr>
          <p:cNvPr id="9" name="text-88"/>
          <p:cNvSpPr txBox="1"/>
          <p:nvPr/>
        </p:nvSpPr>
        <p:spPr>
          <a:xfrm>
            <a:off x="5760720" y="3538728"/>
            <a:ext cx="2788920" cy="8229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6 / 6</a:t>
            </a:r>
            <a:endParaRPr lang="en-US" sz="1400" dirty="0"/>
          </a:p>
          <a:p>
            <a:pPr indent="0" marL="0">
              <a:buNone/>
            </a:pPr>
            <a:r>
              <a:rPr lang="en-US" sz="1200" dirty="0">
                <a:solidFill>
                  <a:schemeClr val="accent4"/>
                </a:solidFill>
              </a:rPr>
              <a:t>key chapters found in every document</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Issues found and fixed</a:t>
            </a:r>
            <a:endParaRPr lang="en-US" sz="3200" dirty="0"/>
          </a:p>
        </p:txBody>
      </p:sp>
      <p:sp>
        <p:nvSpPr>
          <p:cNvPr id="3" name="card-89"/>
          <p:cNvSpPr/>
          <p:nvPr/>
        </p:nvSpPr>
        <p:spPr>
          <a:xfrm>
            <a:off x="457200" y="1143000"/>
            <a:ext cx="8229600" cy="978408"/>
          </a:xfrm>
          <a:prstGeom prst="roundRect">
            <a:avLst>
              <a:gd name="adj" fmla="val 7477"/>
            </a:avLst>
          </a:prstGeom>
          <a:solidFill>
            <a:schemeClr val="bg2"/>
          </a:solidFill>
          <a:ln w="9525">
            <a:solidFill>
              <a:schemeClr val="bg2"/>
            </a:solidFill>
            <a:prstDash val="solid"/>
          </a:ln>
        </p:spPr>
      </p:sp>
      <p:sp>
        <p:nvSpPr>
          <p:cNvPr id="4" name="pill-90"/>
          <p:cNvSpPr/>
          <p:nvPr/>
        </p:nvSpPr>
        <p:spPr>
          <a:xfrm>
            <a:off x="640080" y="1444752"/>
            <a:ext cx="822960" cy="365760"/>
          </a:xfrm>
          <a:prstGeom prst="roundRect">
            <a:avLst>
              <a:gd name="adj" fmla="val 37500"/>
            </a:avLst>
          </a:prstGeom>
          <a:solidFill>
            <a:schemeClr val="accent1"/>
          </a:solidFill>
          <a:ln w="9525">
            <a:solidFill>
              <a:schemeClr val="accent1"/>
            </a:solidFill>
          </a:ln>
        </p:spPr>
        <p:txBody>
          <a:bodyPr wrap="square" lIns="0" tIns="0" rIns="0" bIns="0" rtlCol="0" anchor="ctr"/>
          <a:lstStyle/>
          <a:p>
            <a:pPr algn="ctr" indent="0" marL="0">
              <a:buNone/>
            </a:pPr>
            <a:r>
              <a:rPr lang="en-US" sz="1200" b="1" dirty="0">
                <a:solidFill>
                  <a:schemeClr val="bg1"/>
                </a:solidFill>
              </a:rPr>
              <a:t>Fixed</a:t>
            </a:r>
            <a:endParaRPr lang="en-US" sz="1200" dirty="0"/>
          </a:p>
        </p:txBody>
      </p:sp>
      <p:sp>
        <p:nvSpPr>
          <p:cNvPr id="5" name="text-91"/>
          <p:cNvSpPr txBox="1"/>
          <p:nvPr/>
        </p:nvSpPr>
        <p:spPr>
          <a:xfrm>
            <a:off x="1691640" y="1234440"/>
            <a:ext cx="6812280" cy="822960"/>
          </a:xfrm>
          <a:prstGeom prst="rect">
            <a:avLst/>
          </a:prstGeom>
          <a:noFill/>
          <a:ln/>
        </p:spPr>
        <p:txBody>
          <a:bodyPr wrap="square" lIns="0" tIns="0" rIns="0" bIns="0" rtlCol="0" anchor="t"/>
          <a:lstStyle/>
          <a:p>
            <a:pPr indent="0" marL="0">
              <a:buNone/>
            </a:pPr>
            <a:r>
              <a:rPr lang="en-US" sz="1500" b="1" dirty="0">
                <a:solidFill>
                  <a:schemeClr val="tx2"/>
                </a:solidFill>
              </a:rPr>
              <a:t>Mankind's MD&amp;A chapter was missed</a:t>
            </a:r>
            <a:endParaRPr lang="en-US" sz="1400" dirty="0"/>
          </a:p>
          <a:p>
            <a:pPr indent="0" marL="0">
              <a:buNone/>
            </a:pPr>
            <a:r>
              <a:rPr lang="en-US" sz="1300" b="1" dirty="0">
                <a:solidFill>
                  <a:schemeClr val="accent4"/>
                </a:solidFill>
              </a:rPr>
              <a:t>Cause: </a:t>
            </a:r>
            <a:pPr indent="0" marL="0">
              <a:buNone/>
            </a:pPr>
            <a:r>
              <a:rPr lang="en-US" sz="1300" dirty="0">
                <a:solidFill>
                  <a:schemeClr val="tx1"/>
                </a:solidFill>
              </a:rPr>
              <a:t>Contents line had only two dots and a garbled apostrophe</a:t>
            </a:r>
            <a:endParaRPr lang="en-US" sz="1400" dirty="0"/>
          </a:p>
          <a:p>
            <a:pPr indent="0" marL="0">
              <a:buNone/>
            </a:pPr>
            <a:r>
              <a:rPr lang="en-US" sz="1300" b="1" dirty="0">
                <a:solidFill>
                  <a:schemeClr val="accent4"/>
                </a:solidFill>
              </a:rPr>
              <a:t>Fix: </a:t>
            </a:r>
            <a:pPr indent="0" marL="0">
              <a:buNone/>
            </a:pPr>
            <a:r>
              <a:rPr lang="en-US" sz="1300" dirty="0">
                <a:solidFill>
                  <a:schemeClr val="tx1"/>
                </a:solidFill>
              </a:rPr>
              <a:t>Accept two-dot leaders; normalise apostrophes</a:t>
            </a:r>
            <a:endParaRPr lang="en-US" sz="1400" dirty="0"/>
          </a:p>
        </p:txBody>
      </p:sp>
      <p:sp>
        <p:nvSpPr>
          <p:cNvPr id="6" name="card-92"/>
          <p:cNvSpPr/>
          <p:nvPr/>
        </p:nvSpPr>
        <p:spPr>
          <a:xfrm>
            <a:off x="457200" y="2258568"/>
            <a:ext cx="8229600" cy="978408"/>
          </a:xfrm>
          <a:prstGeom prst="roundRect">
            <a:avLst>
              <a:gd name="adj" fmla="val 7477"/>
            </a:avLst>
          </a:prstGeom>
          <a:solidFill>
            <a:schemeClr val="bg2"/>
          </a:solidFill>
          <a:ln w="9525">
            <a:solidFill>
              <a:schemeClr val="bg2"/>
            </a:solidFill>
            <a:prstDash val="solid"/>
          </a:ln>
        </p:spPr>
      </p:sp>
      <p:sp>
        <p:nvSpPr>
          <p:cNvPr id="7" name="pill-93"/>
          <p:cNvSpPr/>
          <p:nvPr/>
        </p:nvSpPr>
        <p:spPr>
          <a:xfrm>
            <a:off x="640080" y="2560320"/>
            <a:ext cx="822960" cy="365760"/>
          </a:xfrm>
          <a:prstGeom prst="roundRect">
            <a:avLst>
              <a:gd name="adj" fmla="val 37500"/>
            </a:avLst>
          </a:prstGeom>
          <a:solidFill>
            <a:schemeClr val="accent1"/>
          </a:solidFill>
          <a:ln w="9525">
            <a:solidFill>
              <a:schemeClr val="accent1"/>
            </a:solidFill>
          </a:ln>
        </p:spPr>
        <p:txBody>
          <a:bodyPr wrap="square" lIns="0" tIns="0" rIns="0" bIns="0" rtlCol="0" anchor="ctr"/>
          <a:lstStyle/>
          <a:p>
            <a:pPr algn="ctr" indent="0" marL="0">
              <a:buNone/>
            </a:pPr>
            <a:r>
              <a:rPr lang="en-US" sz="1200" b="1" dirty="0">
                <a:solidFill>
                  <a:schemeClr val="bg1"/>
                </a:solidFill>
              </a:rPr>
              <a:t>Fixed</a:t>
            </a:r>
            <a:endParaRPr lang="en-US" sz="1200" dirty="0"/>
          </a:p>
        </p:txBody>
      </p:sp>
      <p:sp>
        <p:nvSpPr>
          <p:cNvPr id="8" name="text-94"/>
          <p:cNvSpPr txBox="1"/>
          <p:nvPr/>
        </p:nvSpPr>
        <p:spPr>
          <a:xfrm>
            <a:off x="1691640" y="2350008"/>
            <a:ext cx="6812280" cy="822960"/>
          </a:xfrm>
          <a:prstGeom prst="rect">
            <a:avLst/>
          </a:prstGeom>
          <a:noFill/>
          <a:ln/>
        </p:spPr>
        <p:txBody>
          <a:bodyPr wrap="square" lIns="0" tIns="0" rIns="0" bIns="0" rtlCol="0" anchor="t"/>
          <a:lstStyle/>
          <a:p>
            <a:pPr indent="0" marL="0">
              <a:buNone/>
            </a:pPr>
            <a:r>
              <a:rPr lang="en-US" sz="1500" b="1" dirty="0">
                <a:solidFill>
                  <a:schemeClr val="tx2"/>
                </a:solidFill>
              </a:rPr>
              <a:t>'Other financial information' mislabelled</a:t>
            </a:r>
            <a:endParaRPr lang="en-US" sz="1400" dirty="0"/>
          </a:p>
          <a:p>
            <a:pPr indent="0" marL="0">
              <a:buNone/>
            </a:pPr>
            <a:r>
              <a:rPr lang="en-US" sz="1300" b="1" dirty="0">
                <a:solidFill>
                  <a:schemeClr val="accent4"/>
                </a:solidFill>
              </a:rPr>
              <a:t>Cause: </a:t>
            </a:r>
            <a:pPr indent="0" marL="0">
              <a:buNone/>
            </a:pPr>
            <a:r>
              <a:rPr lang="en-US" sz="1300" dirty="0">
                <a:solidFill>
                  <a:schemeClr val="tx1"/>
                </a:solidFill>
              </a:rPr>
              <a:t>Generic pattern was checked before the specific one</a:t>
            </a:r>
            <a:endParaRPr lang="en-US" sz="1400" dirty="0"/>
          </a:p>
          <a:p>
            <a:pPr indent="0" marL="0">
              <a:buNone/>
            </a:pPr>
            <a:r>
              <a:rPr lang="en-US" sz="1300" b="1" dirty="0">
                <a:solidFill>
                  <a:schemeClr val="accent4"/>
                </a:solidFill>
              </a:rPr>
              <a:t>Fix: </a:t>
            </a:r>
            <a:pPr indent="0" marL="0">
              <a:buNone/>
            </a:pPr>
            <a:r>
              <a:rPr lang="en-US" sz="1300" dirty="0">
                <a:solidFill>
                  <a:schemeClr val="tx1"/>
                </a:solidFill>
              </a:rPr>
              <a:t>Check specific chapter patterns first</a:t>
            </a:r>
            <a:endParaRPr lang="en-US" sz="1400" dirty="0"/>
          </a:p>
        </p:txBody>
      </p:sp>
      <p:sp>
        <p:nvSpPr>
          <p:cNvPr id="9" name="card-95"/>
          <p:cNvSpPr/>
          <p:nvPr/>
        </p:nvSpPr>
        <p:spPr>
          <a:xfrm>
            <a:off x="457200" y="3374136"/>
            <a:ext cx="8229600" cy="978408"/>
          </a:xfrm>
          <a:prstGeom prst="roundRect">
            <a:avLst>
              <a:gd name="adj" fmla="val 7477"/>
            </a:avLst>
          </a:prstGeom>
          <a:solidFill>
            <a:schemeClr val="bg2"/>
          </a:solidFill>
          <a:ln w="9525">
            <a:solidFill>
              <a:schemeClr val="bg2"/>
            </a:solidFill>
            <a:prstDash val="solid"/>
          </a:ln>
        </p:spPr>
      </p:sp>
      <p:sp>
        <p:nvSpPr>
          <p:cNvPr id="10" name="pill-96"/>
          <p:cNvSpPr/>
          <p:nvPr/>
        </p:nvSpPr>
        <p:spPr>
          <a:xfrm>
            <a:off x="640080" y="3675888"/>
            <a:ext cx="822960" cy="365760"/>
          </a:xfrm>
          <a:prstGeom prst="roundRect">
            <a:avLst>
              <a:gd name="adj" fmla="val 37500"/>
            </a:avLst>
          </a:prstGeom>
          <a:solidFill>
            <a:schemeClr val="accent2"/>
          </a:solidFill>
          <a:ln w="9525">
            <a:solidFill>
              <a:schemeClr val="accent2"/>
            </a:solidFill>
          </a:ln>
        </p:spPr>
        <p:txBody>
          <a:bodyPr wrap="square" lIns="0" tIns="0" rIns="0" bIns="0" rtlCol="0" anchor="ctr"/>
          <a:lstStyle/>
          <a:p>
            <a:pPr algn="ctr" indent="0" marL="0">
              <a:buNone/>
            </a:pPr>
            <a:r>
              <a:rPr lang="en-US" sz="1200" b="1" dirty="0">
                <a:solidFill>
                  <a:schemeClr val="bg1"/>
                </a:solidFill>
              </a:rPr>
              <a:t>Open</a:t>
            </a:r>
            <a:endParaRPr lang="en-US" sz="1200" dirty="0"/>
          </a:p>
        </p:txBody>
      </p:sp>
      <p:sp>
        <p:nvSpPr>
          <p:cNvPr id="11" name="text-97"/>
          <p:cNvSpPr txBox="1"/>
          <p:nvPr/>
        </p:nvSpPr>
        <p:spPr>
          <a:xfrm>
            <a:off x="1691640" y="3465576"/>
            <a:ext cx="6812280" cy="822960"/>
          </a:xfrm>
          <a:prstGeom prst="rect">
            <a:avLst/>
          </a:prstGeom>
          <a:noFill/>
          <a:ln/>
        </p:spPr>
        <p:txBody>
          <a:bodyPr wrap="square" lIns="0" tIns="0" rIns="0" bIns="0" rtlCol="0" anchor="t"/>
          <a:lstStyle/>
          <a:p>
            <a:pPr indent="0" marL="0">
              <a:buNone/>
            </a:pPr>
            <a:r>
              <a:rPr lang="en-US" sz="1500" b="1" dirty="0">
                <a:solidFill>
                  <a:schemeClr val="tx2"/>
                </a:solidFill>
              </a:rPr>
              <a:t>Premier Energies pp. 334–338 are images</a:t>
            </a:r>
            <a:endParaRPr lang="en-US" sz="1400" dirty="0"/>
          </a:p>
          <a:p>
            <a:pPr indent="0" marL="0">
              <a:buNone/>
            </a:pPr>
            <a:r>
              <a:rPr lang="en-US" sz="1300" b="1" dirty="0">
                <a:solidFill>
                  <a:schemeClr val="accent4"/>
                </a:solidFill>
              </a:rPr>
              <a:t>Cause: </a:t>
            </a:r>
            <a:pPr indent="0" marL="0">
              <a:buNone/>
            </a:pPr>
            <a:r>
              <a:rPr lang="en-US" sz="1300" dirty="0">
                <a:solidFill>
                  <a:schemeClr val="tx1"/>
                </a:solidFill>
              </a:rPr>
              <a:t>Scanned auditor's report with no text layer</a:t>
            </a:r>
            <a:endParaRPr lang="en-US" sz="1400" dirty="0"/>
          </a:p>
          <a:p>
            <a:pPr indent="0" marL="0">
              <a:buNone/>
            </a:pPr>
            <a:r>
              <a:rPr lang="en-US" sz="1300" b="1" dirty="0">
                <a:solidFill>
                  <a:schemeClr val="accent4"/>
                </a:solidFill>
              </a:rPr>
              <a:t>Plan: </a:t>
            </a:r>
            <a:pPr indent="0" marL="0">
              <a:buNone/>
            </a:pPr>
            <a:r>
              <a:rPr lang="en-US" sz="1300" dirty="0">
                <a:solidFill>
                  <a:schemeClr val="tx1"/>
                </a:solidFill>
              </a:rPr>
              <a:t>OCR later if needed; statements from p. 339 are text</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1325880"/>
            <a:ext cx="3657600" cy="457200"/>
          </a:xfrm>
          <a:prstGeom prst="rect">
            <a:avLst/>
          </a:prstGeom>
          <a:noFill/>
          <a:ln/>
        </p:spPr>
        <p:txBody>
          <a:bodyPr wrap="square" lIns="0" tIns="0" rIns="0" bIns="0" rtlCol="0" anchor="b"/>
          <a:lstStyle/>
          <a:p>
            <a:pPr algn="l" indent="0" marL="0">
              <a:buNone/>
            </a:pPr>
            <a:r>
              <a:rPr lang="en-US" sz="1800" b="1" dirty="0">
                <a:solidFill>
                  <a:schemeClr val="accent2"/>
                </a:solidFill>
              </a:rPr>
              <a:t>03</a:t>
            </a:r>
            <a:endParaRPr lang="en-US" sz="1800" dirty="0"/>
          </a:p>
        </p:txBody>
      </p:sp>
      <p:sp>
        <p:nvSpPr>
          <p:cNvPr id="3" name="Text 1"/>
          <p:cNvSpPr/>
          <p:nvPr>
            <p:ph idx="102" type="title" hasCustomPrompt="1"/>
          </p:nvPr>
        </p:nvSpPr>
        <p:spPr>
          <a:xfrm>
            <a:off x="548640" y="1828800"/>
            <a:ext cx="8046720" cy="914400"/>
          </a:xfrm>
          <a:prstGeom prst="rect">
            <a:avLst/>
          </a:prstGeom>
          <a:noFill/>
          <a:ln/>
        </p:spPr>
        <p:txBody>
          <a:bodyPr wrap="square" lIns="0" tIns="0" rIns="0" bIns="0" rtlCol="0" anchor="t"/>
          <a:lstStyle/>
          <a:p>
            <a:pPr algn="l" indent="0" marL="0">
              <a:buNone/>
            </a:pPr>
            <a:r>
              <a:rPr lang="en-US" sz="4000" b="1" dirty="0">
                <a:solidFill>
                  <a:schemeClr val="bg1"/>
                </a:solidFill>
              </a:rPr>
              <a:t>Next: table extraction</a:t>
            </a:r>
            <a:endParaRPr lang="en-US" sz="4000" dirty="0"/>
          </a:p>
        </p:txBody>
      </p:sp>
      <p:sp>
        <p:nvSpPr>
          <p:cNvPr id="4" name="Text 1"/>
          <p:cNvSpPr/>
          <p:nvPr>
            <p:ph idx="103" type="body" hasCustomPrompt="1"/>
          </p:nvPr>
        </p:nvSpPr>
        <p:spPr>
          <a:xfrm>
            <a:off x="548640" y="2788920"/>
            <a:ext cx="8046720" cy="822960"/>
          </a:xfrm>
          <a:prstGeom prst="rect">
            <a:avLst/>
          </a:prstGeom>
          <a:noFill/>
          <a:ln/>
        </p:spPr>
        <p:txBody>
          <a:bodyPr wrap="square" lIns="0" tIns="0" rIns="0" bIns="0" rtlCol="0" anchor="t"/>
          <a:lstStyle/>
          <a:p>
            <a:pPr algn="l" indent="0" marL="0">
              <a:buNone/>
            </a:pPr>
            <a:r>
              <a:rPr lang="en-US" sz="1800" dirty="0">
                <a:solidFill>
                  <a:schemeClr val="bg2"/>
                </a:solidFill>
              </a:rPr>
              <a:t>Getting clean numbers out of the financial tables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What we extract next</a:t>
            </a:r>
            <a:endParaRPr lang="en-US" sz="3200" dirty="0"/>
          </a:p>
        </p:txBody>
      </p:sp>
      <p:sp>
        <p:nvSpPr>
          <p:cNvPr id="3" name="card-98"/>
          <p:cNvSpPr/>
          <p:nvPr/>
        </p:nvSpPr>
        <p:spPr>
          <a:xfrm>
            <a:off x="457200" y="1143000"/>
            <a:ext cx="2560320" cy="1188720"/>
          </a:xfrm>
          <a:prstGeom prst="roundRect">
            <a:avLst>
              <a:gd name="adj" fmla="val 6154"/>
            </a:avLst>
          </a:prstGeom>
          <a:solidFill>
            <a:schemeClr val="bg2"/>
          </a:solidFill>
          <a:ln w="9525">
            <a:solidFill>
              <a:schemeClr val="bg2"/>
            </a:solidFill>
            <a:prstDash val="solid"/>
          </a:ln>
        </p:spPr>
      </p:sp>
      <p:sp>
        <p:nvSpPr>
          <p:cNvPr id="4" name="text-99"/>
          <p:cNvSpPr txBox="1"/>
          <p:nvPr/>
        </p:nvSpPr>
        <p:spPr>
          <a:xfrm>
            <a:off x="640080" y="1280160"/>
            <a:ext cx="2240280" cy="1005840"/>
          </a:xfrm>
          <a:prstGeom prst="rect">
            <a:avLst/>
          </a:prstGeom>
          <a:noFill/>
          <a:ln/>
        </p:spPr>
        <p:txBody>
          <a:bodyPr wrap="square" lIns="0" tIns="0" rIns="0" bIns="0" rtlCol="0" anchor="t"/>
          <a:lstStyle/>
          <a:p>
            <a:pPr indent="0" marL="0">
              <a:buNone/>
            </a:pPr>
            <a:r>
              <a:rPr lang="en-US" sz="1500" b="1" dirty="0">
                <a:solidFill>
                  <a:schemeClr val="tx2"/>
                </a:solidFill>
              </a:rPr>
              <a:t>Financial statements</a:t>
            </a:r>
            <a:endParaRPr lang="en-US" sz="1400" dirty="0"/>
          </a:p>
          <a:p>
            <a:pPr indent="0" marL="0">
              <a:buNone/>
            </a:pPr>
            <a:r>
              <a:rPr lang="en-US" sz="1300" dirty="0">
                <a:solidFill>
                  <a:schemeClr val="tx1"/>
                </a:solidFill>
              </a:rPr>
              <a:t>Balance sheet, P&amp;L and cash flow for 3 years plus interim</a:t>
            </a:r>
            <a:endParaRPr lang="en-US" sz="1400" dirty="0"/>
          </a:p>
        </p:txBody>
      </p:sp>
      <p:sp>
        <p:nvSpPr>
          <p:cNvPr id="5" name="card-100"/>
          <p:cNvSpPr/>
          <p:nvPr/>
        </p:nvSpPr>
        <p:spPr>
          <a:xfrm>
            <a:off x="3291840" y="1143000"/>
            <a:ext cx="2560320" cy="1188720"/>
          </a:xfrm>
          <a:prstGeom prst="roundRect">
            <a:avLst>
              <a:gd name="adj" fmla="val 6154"/>
            </a:avLst>
          </a:prstGeom>
          <a:solidFill>
            <a:schemeClr val="bg2"/>
          </a:solidFill>
          <a:ln w="9525">
            <a:solidFill>
              <a:schemeClr val="bg2"/>
            </a:solidFill>
            <a:prstDash val="solid"/>
          </a:ln>
        </p:spPr>
      </p:sp>
      <p:sp>
        <p:nvSpPr>
          <p:cNvPr id="6" name="text-101"/>
          <p:cNvSpPr txBox="1"/>
          <p:nvPr/>
        </p:nvSpPr>
        <p:spPr>
          <a:xfrm>
            <a:off x="3474720" y="1280160"/>
            <a:ext cx="2240280" cy="1005840"/>
          </a:xfrm>
          <a:prstGeom prst="rect">
            <a:avLst/>
          </a:prstGeom>
          <a:noFill/>
          <a:ln/>
        </p:spPr>
        <p:txBody>
          <a:bodyPr wrap="square" lIns="0" tIns="0" rIns="0" bIns="0" rtlCol="0" anchor="t"/>
          <a:lstStyle/>
          <a:p>
            <a:pPr indent="0" marL="0">
              <a:buNone/>
            </a:pPr>
            <a:r>
              <a:rPr lang="en-US" sz="1500" b="1" dirty="0">
                <a:solidFill>
                  <a:schemeClr val="tx2"/>
                </a:solidFill>
              </a:rPr>
              <a:t>Peer comparison</a:t>
            </a:r>
            <a:endParaRPr lang="en-US" sz="1400" dirty="0"/>
          </a:p>
          <a:p>
            <a:pPr indent="0" marL="0">
              <a:buNone/>
            </a:pPr>
            <a:r>
              <a:rPr lang="en-US" sz="1300" dirty="0">
                <a:solidFill>
                  <a:schemeClr val="tx1"/>
                </a:solidFill>
              </a:rPr>
              <a:t>EPS, P/E, RoNW and NAV of listed peers, from Basis for Offer Price</a:t>
            </a:r>
            <a:endParaRPr lang="en-US" sz="1400" dirty="0"/>
          </a:p>
        </p:txBody>
      </p:sp>
      <p:sp>
        <p:nvSpPr>
          <p:cNvPr id="7" name="card-102"/>
          <p:cNvSpPr/>
          <p:nvPr/>
        </p:nvSpPr>
        <p:spPr>
          <a:xfrm>
            <a:off x="6126480" y="1143000"/>
            <a:ext cx="2560320" cy="1188720"/>
          </a:xfrm>
          <a:prstGeom prst="roundRect">
            <a:avLst>
              <a:gd name="adj" fmla="val 6154"/>
            </a:avLst>
          </a:prstGeom>
          <a:solidFill>
            <a:schemeClr val="bg2"/>
          </a:solidFill>
          <a:ln w="9525">
            <a:solidFill>
              <a:schemeClr val="bg2"/>
            </a:solidFill>
            <a:prstDash val="solid"/>
          </a:ln>
        </p:spPr>
      </p:sp>
      <p:sp>
        <p:nvSpPr>
          <p:cNvPr id="8" name="text-103"/>
          <p:cNvSpPr txBox="1"/>
          <p:nvPr/>
        </p:nvSpPr>
        <p:spPr>
          <a:xfrm>
            <a:off x="6309360" y="1280160"/>
            <a:ext cx="2240280" cy="1005840"/>
          </a:xfrm>
          <a:prstGeom prst="rect">
            <a:avLst/>
          </a:prstGeom>
          <a:noFill/>
          <a:ln/>
        </p:spPr>
        <p:txBody>
          <a:bodyPr wrap="square" lIns="0" tIns="0" rIns="0" bIns="0" rtlCol="0" anchor="t"/>
          <a:lstStyle/>
          <a:p>
            <a:pPr indent="0" marL="0">
              <a:buNone/>
            </a:pPr>
            <a:r>
              <a:rPr lang="en-US" sz="1500" b="1" dirty="0">
                <a:solidFill>
                  <a:schemeClr val="tx2"/>
                </a:solidFill>
              </a:rPr>
              <a:t>Offer details</a:t>
            </a:r>
            <a:endParaRPr lang="en-US" sz="1400" dirty="0"/>
          </a:p>
          <a:p>
            <a:pPr indent="0" marL="0">
              <a:buNone/>
            </a:pPr>
            <a:r>
              <a:rPr lang="en-US" sz="1300" dirty="0">
                <a:solidFill>
                  <a:schemeClr val="tx1"/>
                </a:solidFill>
              </a:rPr>
              <a:t>Issue size, fresh issue vs OFS, shares before and after</a:t>
            </a:r>
            <a:endParaRPr lang="en-US" sz="1400" dirty="0"/>
          </a:p>
        </p:txBody>
      </p:sp>
      <p:sp>
        <p:nvSpPr>
          <p:cNvPr id="9" name="chip-104"/>
          <p:cNvSpPr/>
          <p:nvPr/>
        </p:nvSpPr>
        <p:spPr>
          <a:xfrm>
            <a:off x="457200" y="2651760"/>
            <a:ext cx="384048" cy="384048"/>
          </a:xfrm>
          <a:prstGeom prst="ellipse">
            <a:avLst/>
          </a:prstGeom>
          <a:solidFill>
            <a:schemeClr val="accent2"/>
          </a:solidFill>
          <a:ln w="19050">
            <a:solidFill>
              <a:schemeClr val="accent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ext-105"/>
          <p:cNvSpPr txBox="1"/>
          <p:nvPr/>
        </p:nvSpPr>
        <p:spPr>
          <a:xfrm>
            <a:off x="932688" y="2651760"/>
            <a:ext cx="1463040" cy="384048"/>
          </a:xfrm>
          <a:prstGeom prst="rect">
            <a:avLst/>
          </a:prstGeom>
          <a:noFill/>
          <a:ln/>
        </p:spPr>
        <p:txBody>
          <a:bodyPr wrap="square" lIns="0" tIns="0" rIns="0" bIns="0" rtlCol="0" anchor="ctr"/>
          <a:lstStyle/>
          <a:p>
            <a:pPr indent="0" marL="0">
              <a:buNone/>
            </a:pPr>
            <a:r>
              <a:rPr lang="en-US" sz="1400" b="1" dirty="0">
                <a:solidFill>
                  <a:schemeClr val="tx2"/>
                </a:solidFill>
              </a:rPr>
              <a:t>Locate pages</a:t>
            </a:r>
            <a:endParaRPr lang="en-US" sz="1400" dirty="0"/>
          </a:p>
        </p:txBody>
      </p:sp>
      <p:sp>
        <p:nvSpPr>
          <p:cNvPr id="11" name="chip-106"/>
          <p:cNvSpPr/>
          <p:nvPr/>
        </p:nvSpPr>
        <p:spPr>
          <a:xfrm>
            <a:off x="2560320" y="2651760"/>
            <a:ext cx="384048" cy="384048"/>
          </a:xfrm>
          <a:prstGeom prst="ellipse">
            <a:avLst/>
          </a:prstGeom>
          <a:solidFill>
            <a:schemeClr val="accent2"/>
          </a:solidFill>
          <a:ln w="19050">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107"/>
          <p:cNvSpPr txBox="1"/>
          <p:nvPr/>
        </p:nvSpPr>
        <p:spPr>
          <a:xfrm>
            <a:off x="3035808" y="2651760"/>
            <a:ext cx="1463040" cy="384048"/>
          </a:xfrm>
          <a:prstGeom prst="rect">
            <a:avLst/>
          </a:prstGeom>
          <a:noFill/>
          <a:ln/>
        </p:spPr>
        <p:txBody>
          <a:bodyPr wrap="square" lIns="0" tIns="0" rIns="0" bIns="0" rtlCol="0" anchor="ctr"/>
          <a:lstStyle/>
          <a:p>
            <a:pPr indent="0" marL="0">
              <a:buNone/>
            </a:pPr>
            <a:r>
              <a:rPr lang="en-US" sz="1400" b="1" dirty="0">
                <a:solidFill>
                  <a:schemeClr val="tx2"/>
                </a:solidFill>
              </a:rPr>
              <a:t>Extract tables</a:t>
            </a:r>
            <a:endParaRPr lang="en-US" sz="1400" dirty="0"/>
          </a:p>
        </p:txBody>
      </p:sp>
      <p:sp>
        <p:nvSpPr>
          <p:cNvPr id="13" name="chip-108"/>
          <p:cNvSpPr/>
          <p:nvPr/>
        </p:nvSpPr>
        <p:spPr>
          <a:xfrm>
            <a:off x="4663440" y="2651760"/>
            <a:ext cx="384048" cy="384048"/>
          </a:xfrm>
          <a:prstGeom prst="ellipse">
            <a:avLst/>
          </a:prstGeom>
          <a:solidFill>
            <a:schemeClr val="accent2"/>
          </a:solidFill>
          <a:ln w="19050">
            <a:solidFill>
              <a:schemeClr val="accent2"/>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109"/>
          <p:cNvSpPr txBox="1"/>
          <p:nvPr/>
        </p:nvSpPr>
        <p:spPr>
          <a:xfrm>
            <a:off x="5138928" y="2651760"/>
            <a:ext cx="1463040" cy="384048"/>
          </a:xfrm>
          <a:prstGeom prst="rect">
            <a:avLst/>
          </a:prstGeom>
          <a:noFill/>
          <a:ln/>
        </p:spPr>
        <p:txBody>
          <a:bodyPr wrap="square" lIns="0" tIns="0" rIns="0" bIns="0" rtlCol="0" anchor="ctr"/>
          <a:lstStyle/>
          <a:p>
            <a:pPr indent="0" marL="0">
              <a:buNone/>
            </a:pPr>
            <a:r>
              <a:rPr lang="en-US" sz="1400" b="1" dirty="0">
                <a:solidFill>
                  <a:schemeClr val="tx2"/>
                </a:solidFill>
              </a:rPr>
              <a:t>Map to schema</a:t>
            </a:r>
            <a:endParaRPr lang="en-US" sz="1400" dirty="0"/>
          </a:p>
        </p:txBody>
      </p:sp>
      <p:sp>
        <p:nvSpPr>
          <p:cNvPr id="15" name="chip-110"/>
          <p:cNvSpPr/>
          <p:nvPr/>
        </p:nvSpPr>
        <p:spPr>
          <a:xfrm>
            <a:off x="6766560" y="2651760"/>
            <a:ext cx="384048" cy="384048"/>
          </a:xfrm>
          <a:prstGeom prst="ellipse">
            <a:avLst/>
          </a:prstGeom>
          <a:solidFill>
            <a:schemeClr val="accent2"/>
          </a:solidFill>
          <a:ln w="19050">
            <a:solidFill>
              <a:schemeClr val="accent2"/>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6" name="text-111"/>
          <p:cNvSpPr txBox="1"/>
          <p:nvPr/>
        </p:nvSpPr>
        <p:spPr>
          <a:xfrm>
            <a:off x="7242048" y="2651760"/>
            <a:ext cx="1463040" cy="384048"/>
          </a:xfrm>
          <a:prstGeom prst="rect">
            <a:avLst/>
          </a:prstGeom>
          <a:noFill/>
          <a:ln/>
        </p:spPr>
        <p:txBody>
          <a:bodyPr wrap="square" lIns="0" tIns="0" rIns="0" bIns="0" rtlCol="0" anchor="ctr"/>
          <a:lstStyle/>
          <a:p>
            <a:pPr indent="0" marL="0">
              <a:buNone/>
            </a:pPr>
            <a:r>
              <a:rPr lang="en-US" sz="1400" b="1" dirty="0">
                <a:solidFill>
                  <a:schemeClr val="tx2"/>
                </a:solidFill>
              </a:rPr>
              <a:t>Cross-check</a:t>
            </a:r>
            <a:endParaRPr lang="en-US" sz="1400" dirty="0"/>
          </a:p>
        </p:txBody>
      </p:sp>
      <p:sp>
        <p:nvSpPr>
          <p:cNvPr id="17" name="text-112"/>
          <p:cNvSpPr txBox="1"/>
          <p:nvPr/>
        </p:nvSpPr>
        <p:spPr>
          <a:xfrm>
            <a:off x="457200" y="3337560"/>
            <a:ext cx="8229600" cy="1097280"/>
          </a:xfrm>
          <a:prstGeom prst="rect">
            <a:avLst/>
          </a:prstGeom>
          <a:noFill/>
          <a:ln/>
        </p:spPr>
        <p:txBody>
          <a:bodyPr wrap="square" lIns="0" tIns="0" rIns="0" bIns="0" rtlCol="0" anchor="t"/>
          <a:lstStyle/>
          <a:p>
            <a:pPr indent="0" marL="0">
              <a:spcAft>
                <a:spcPts val="600"/>
              </a:spcAft>
              <a:buNone/>
            </a:pPr>
            <a:r>
              <a:rPr lang="en-US" sz="1400" b="1" dirty="0">
                <a:solidFill>
                  <a:schemeClr val="tx2"/>
                </a:solidFill>
              </a:rPr>
              <a:t>Cross-checks: </a:t>
            </a:r>
            <a:pPr indent="0" marL="0">
              <a:spcAft>
                <a:spcPts val="600"/>
              </a:spcAft>
              <a:buNone/>
            </a:pPr>
            <a:r>
              <a:rPr lang="en-US" sz="1400" dirty="0">
                <a:solidFill>
                  <a:schemeClr val="tx1"/>
                </a:solidFill>
              </a:rPr>
              <a:t>assets = equity + liabilities; P&amp;L revenue matches the summary table. Finance companies (Bajaj Housing, IREDA) get their own line-item mapping.</a:t>
            </a:r>
            <a:endParaRPr lang="en-US" sz="1400" dirty="0"/>
          </a:p>
          <a:p>
            <a:pPr indent="0" marL="0">
              <a:spcAft>
                <a:spcPts val="600"/>
              </a:spcAft>
              <a:buNone/>
            </a:pPr>
            <a:r>
              <a:rPr lang="en-US" sz="1400" b="1" dirty="0">
                <a:solidFill>
                  <a:schemeClr val="accent2"/>
                </a:solidFill>
              </a:rPr>
              <a:t>Team task in parallel: </a:t>
            </a:r>
            <a:pPr indent="0" marL="0">
              <a:spcAft>
                <a:spcPts val="600"/>
              </a:spcAft>
              <a:buNone/>
            </a:pPr>
            <a:r>
              <a:rPr lang="en-US" sz="1400" dirty="0">
                <a:solidFill>
                  <a:schemeClr val="tx1"/>
                </a:solidFill>
              </a:rPr>
              <a:t>hand-check about 10 figures for 2–3 companies, with page numbers, as our answer set.</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1325880"/>
            <a:ext cx="3657600" cy="457200"/>
          </a:xfrm>
          <a:prstGeom prst="rect">
            <a:avLst/>
          </a:prstGeom>
          <a:noFill/>
          <a:ln/>
        </p:spPr>
        <p:txBody>
          <a:bodyPr wrap="square" lIns="0" tIns="0" rIns="0" bIns="0" rtlCol="0" anchor="b"/>
          <a:lstStyle/>
          <a:p>
            <a:pPr algn="l" indent="0" marL="0">
              <a:buNone/>
            </a:pPr>
            <a:r>
              <a:rPr lang="en-US" sz="1800" b="1" dirty="0">
                <a:solidFill>
                  <a:schemeClr val="accent2"/>
                </a:solidFill>
              </a:rPr>
              <a:t>04</a:t>
            </a:r>
            <a:endParaRPr lang="en-US" sz="1800" dirty="0"/>
          </a:p>
        </p:txBody>
      </p:sp>
      <p:sp>
        <p:nvSpPr>
          <p:cNvPr id="3" name="Text 1"/>
          <p:cNvSpPr/>
          <p:nvPr>
            <p:ph idx="102" type="title" hasCustomPrompt="1"/>
          </p:nvPr>
        </p:nvSpPr>
        <p:spPr>
          <a:xfrm>
            <a:off x="548640" y="1828800"/>
            <a:ext cx="8046720" cy="914400"/>
          </a:xfrm>
          <a:prstGeom prst="rect">
            <a:avLst/>
          </a:prstGeom>
          <a:noFill/>
          <a:ln/>
        </p:spPr>
        <p:txBody>
          <a:bodyPr wrap="square" lIns="0" tIns="0" rIns="0" bIns="0" rtlCol="0" anchor="t"/>
          <a:lstStyle/>
          <a:p>
            <a:pPr algn="l" indent="0" marL="0">
              <a:buNone/>
            </a:pPr>
            <a:r>
              <a:rPr lang="en-US" sz="4000" b="1" dirty="0">
                <a:solidFill>
                  <a:schemeClr val="bg1"/>
                </a:solidFill>
              </a:rPr>
              <a:t>The ML pricing model</a:t>
            </a:r>
            <a:endParaRPr lang="en-US" sz="4000" dirty="0"/>
          </a:p>
        </p:txBody>
      </p:sp>
      <p:sp>
        <p:nvSpPr>
          <p:cNvPr id="4" name="Text 1"/>
          <p:cNvSpPr/>
          <p:nvPr>
            <p:ph idx="103" type="body" hasCustomPrompt="1"/>
          </p:nvPr>
        </p:nvSpPr>
        <p:spPr>
          <a:xfrm>
            <a:off x="548640" y="2788920"/>
            <a:ext cx="8046720" cy="822960"/>
          </a:xfrm>
          <a:prstGeom prst="rect">
            <a:avLst/>
          </a:prstGeom>
          <a:noFill/>
          <a:ln/>
        </p:spPr>
        <p:txBody>
          <a:bodyPr wrap="square" lIns="0" tIns="0" rIns="0" bIns="0" rtlCol="0" anchor="t"/>
          <a:lstStyle/>
          <a:p>
            <a:pPr algn="l" indent="0" marL="0">
              <a:buNone/>
            </a:pPr>
            <a:r>
              <a:rPr lang="en-US" sz="1800" dirty="0">
                <a:solidFill>
                  <a:schemeClr val="bg2"/>
                </a:solidFill>
              </a:rPr>
              <a:t>What it predicts, which model we use, and why</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What the model will predict</a:t>
            </a:r>
            <a:endParaRPr lang="en-US" sz="3200" dirty="0"/>
          </a:p>
        </p:txBody>
      </p:sp>
      <p:sp>
        <p:nvSpPr>
          <p:cNvPr id="3" name="card-113"/>
          <p:cNvSpPr/>
          <p:nvPr/>
        </p:nvSpPr>
        <p:spPr>
          <a:xfrm>
            <a:off x="457200" y="1143000"/>
            <a:ext cx="3291840" cy="3337560"/>
          </a:xfrm>
          <a:prstGeom prst="roundRect">
            <a:avLst>
              <a:gd name="adj" fmla="val 2222"/>
            </a:avLst>
          </a:prstGeom>
          <a:solidFill>
            <a:schemeClr val="tx2"/>
          </a:solidFill>
          <a:ln w="9525">
            <a:solidFill>
              <a:schemeClr val="tx2"/>
            </a:solidFill>
            <a:prstDash val="solid"/>
          </a:ln>
        </p:spPr>
      </p:sp>
      <p:sp>
        <p:nvSpPr>
          <p:cNvPr id="4" name="text-114"/>
          <p:cNvSpPr txBox="1"/>
          <p:nvPr/>
        </p:nvSpPr>
        <p:spPr>
          <a:xfrm>
            <a:off x="685800" y="1325880"/>
            <a:ext cx="2880360" cy="3017520"/>
          </a:xfrm>
          <a:prstGeom prst="rect">
            <a:avLst/>
          </a:prstGeom>
          <a:noFill/>
          <a:ln/>
        </p:spPr>
        <p:txBody>
          <a:bodyPr wrap="square" lIns="0" tIns="0" rIns="0" bIns="0" rtlCol="0" anchor="t"/>
          <a:lstStyle/>
          <a:p>
            <a:pPr indent="0" marL="0">
              <a:buNone/>
            </a:pPr>
            <a:r>
              <a:rPr lang="en-US" sz="1300" b="1" dirty="0">
                <a:solidFill>
                  <a:schemeClr val="accent2"/>
                </a:solidFill>
              </a:rPr>
              <a:t>Target</a:t>
            </a:r>
            <a:endParaRPr lang="en-US" sz="1400" dirty="0"/>
          </a:p>
          <a:p>
            <a:pPr indent="0" marL="0">
              <a:buNone/>
            </a:pPr>
            <a:r>
              <a:rPr lang="en-US" sz="2400" b="1" dirty="0">
                <a:solidFill>
                  <a:schemeClr val="bg1"/>
                </a:solidFill>
                <a:latin typeface="Cambria" pitchFamily="34" charset="0"/>
                <a:ea typeface="Cambria" pitchFamily="34" charset="-122"/>
                <a:cs typeface="Cambria" pitchFamily="34" charset="-120"/>
              </a:rPr>
              <a:t>Listing-day return</a:t>
            </a:r>
            <a:endParaRPr lang="en-US" sz="1400" dirty="0"/>
          </a:p>
          <a:p>
            <a:pPr indent="0" marL="0">
              <a:buNone/>
            </a:pPr>
            <a:r>
              <a:rPr lang="en-US" sz="800" dirty="0">
                <a:solidFill>
                  <a:schemeClr val="tx1"/>
                </a:solidFill>
              </a:rPr>
              <a:t> </a:t>
            </a:r>
            <a:endParaRPr lang="en-US" sz="1400" dirty="0"/>
          </a:p>
          <a:p>
            <a:pPr indent="0" marL="0">
              <a:buNone/>
            </a:pPr>
            <a:r>
              <a:rPr lang="en-US" sz="1400" dirty="0">
                <a:solidFill>
                  <a:schemeClr val="bg2"/>
                </a:solidFill>
              </a:rPr>
              <a:t>(listing price − issue price) ÷ issue price</a:t>
            </a:r>
            <a:endParaRPr lang="en-US" sz="1400" dirty="0"/>
          </a:p>
          <a:p>
            <a:pPr indent="0" marL="0">
              <a:buNone/>
            </a:pPr>
            <a:r>
              <a:rPr lang="en-US" sz="800" dirty="0">
                <a:solidFill>
                  <a:schemeClr val="tx1"/>
                </a:solidFill>
              </a:rPr>
              <a:t> </a:t>
            </a:r>
            <a:endParaRPr lang="en-US" sz="1400" dirty="0"/>
          </a:p>
          <a:p>
            <a:pPr indent="0" marL="0">
              <a:buNone/>
            </a:pPr>
            <a:r>
              <a:rPr lang="en-US" sz="1300" dirty="0">
                <a:solidFill>
                  <a:schemeClr val="bg2"/>
                </a:solidFill>
              </a:rPr>
              <a:t>Trained on 100–150 listed mainboard IPOs, not just the 10-document pilot</a:t>
            </a:r>
            <a:endParaRPr lang="en-US" sz="1400" dirty="0"/>
          </a:p>
          <a:p>
            <a:pPr indent="0" marL="0">
              <a:buNone/>
            </a:pPr>
            <a:r>
              <a:rPr lang="en-US" sz="800" dirty="0">
                <a:solidFill>
                  <a:schemeClr val="tx1"/>
                </a:solidFill>
              </a:rPr>
              <a:t> </a:t>
            </a:r>
            <a:endParaRPr lang="en-US" sz="1400" dirty="0"/>
          </a:p>
          <a:p>
            <a:pPr indent="0" marL="0">
              <a:buNone/>
            </a:pPr>
            <a:r>
              <a:rPr lang="en-US" sz="1300" b="1" dirty="0">
                <a:solidFill>
                  <a:schemeClr val="accent2"/>
                </a:solidFill>
              </a:rPr>
              <a:t>Open choice</a:t>
            </a:r>
            <a:endParaRPr lang="en-US" sz="1400" dirty="0"/>
          </a:p>
          <a:p>
            <a:pPr indent="0" marL="0">
              <a:buNone/>
            </a:pPr>
            <a:r>
              <a:rPr lang="en-US" sz="1300" dirty="0">
                <a:solidFill>
                  <a:schemeClr val="bg2"/>
                </a:solidFill>
              </a:rPr>
              <a:t>Subscription levels predict well but are known only when bidding closes. We use them only if the model runs after bidding.</a:t>
            </a:r>
            <a:endParaRPr lang="en-US" sz="1400" dirty="0"/>
          </a:p>
        </p:txBody>
      </p:sp>
      <p:sp>
        <p:nvSpPr>
          <p:cNvPr id="5" name="chip-115"/>
          <p:cNvSpPr/>
          <p:nvPr/>
        </p:nvSpPr>
        <p:spPr>
          <a:xfrm>
            <a:off x="4023360" y="1216152"/>
            <a:ext cx="384048" cy="384048"/>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116"/>
          <p:cNvSpPr txBox="1"/>
          <p:nvPr/>
        </p:nvSpPr>
        <p:spPr>
          <a:xfrm>
            <a:off x="4572000" y="1143000"/>
            <a:ext cx="4114800" cy="640080"/>
          </a:xfrm>
          <a:prstGeom prst="rect">
            <a:avLst/>
          </a:prstGeom>
          <a:noFill/>
          <a:ln/>
        </p:spPr>
        <p:txBody>
          <a:bodyPr wrap="square" lIns="0" tIns="0" rIns="0" bIns="0" rtlCol="0" anchor="t"/>
          <a:lstStyle/>
          <a:p>
            <a:pPr indent="0" marL="0">
              <a:buNone/>
            </a:pPr>
            <a:r>
              <a:rPr lang="en-US" sz="1400" b="1" dirty="0">
                <a:solidFill>
                  <a:schemeClr val="tx2"/>
                </a:solidFill>
              </a:rPr>
              <a:t>Financials</a:t>
            </a:r>
            <a:endParaRPr lang="en-US" sz="1400" dirty="0"/>
          </a:p>
          <a:p>
            <a:pPr indent="0" marL="0">
              <a:buNone/>
            </a:pPr>
            <a:r>
              <a:rPr lang="en-US" sz="1300" dirty="0">
                <a:solidFill>
                  <a:schemeClr val="tx1"/>
                </a:solidFill>
              </a:rPr>
              <a:t>Growth, margins, RoE, debt/equity (from extraction)</a:t>
            </a:r>
            <a:endParaRPr lang="en-US" sz="1400" dirty="0"/>
          </a:p>
        </p:txBody>
      </p:sp>
      <p:sp>
        <p:nvSpPr>
          <p:cNvPr id="7" name="chip-117"/>
          <p:cNvSpPr/>
          <p:nvPr/>
        </p:nvSpPr>
        <p:spPr>
          <a:xfrm>
            <a:off x="4023360" y="1892808"/>
            <a:ext cx="384048" cy="384048"/>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8" name="text-118"/>
          <p:cNvSpPr txBox="1"/>
          <p:nvPr/>
        </p:nvSpPr>
        <p:spPr>
          <a:xfrm>
            <a:off x="4572000" y="1819656"/>
            <a:ext cx="4114800" cy="640080"/>
          </a:xfrm>
          <a:prstGeom prst="rect">
            <a:avLst/>
          </a:prstGeom>
          <a:noFill/>
          <a:ln/>
        </p:spPr>
        <p:txBody>
          <a:bodyPr wrap="square" lIns="0" tIns="0" rIns="0" bIns="0" rtlCol="0" anchor="t"/>
          <a:lstStyle/>
          <a:p>
            <a:pPr indent="0" marL="0">
              <a:buNone/>
            </a:pPr>
            <a:r>
              <a:rPr lang="en-US" sz="1400" b="1" dirty="0">
                <a:solidFill>
                  <a:schemeClr val="tx2"/>
                </a:solidFill>
              </a:rPr>
              <a:t>Offer details</a:t>
            </a:r>
            <a:endParaRPr lang="en-US" sz="1400" dirty="0"/>
          </a:p>
          <a:p>
            <a:pPr indent="0" marL="0">
              <a:buNone/>
            </a:pPr>
            <a:r>
              <a:rPr lang="en-US" sz="1300" dirty="0">
                <a:solidFill>
                  <a:schemeClr val="tx1"/>
                </a:solidFill>
              </a:rPr>
              <a:t>Issue size, fresh vs OFS share, promoter holding</a:t>
            </a:r>
            <a:endParaRPr lang="en-US" sz="1400" dirty="0"/>
          </a:p>
        </p:txBody>
      </p:sp>
      <p:sp>
        <p:nvSpPr>
          <p:cNvPr id="9" name="chip-119"/>
          <p:cNvSpPr/>
          <p:nvPr/>
        </p:nvSpPr>
        <p:spPr>
          <a:xfrm>
            <a:off x="4023360" y="2569464"/>
            <a:ext cx="384048" cy="384048"/>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0" name="text-120"/>
          <p:cNvSpPr txBox="1"/>
          <p:nvPr/>
        </p:nvSpPr>
        <p:spPr>
          <a:xfrm>
            <a:off x="4572000" y="2496312"/>
            <a:ext cx="4114800" cy="640080"/>
          </a:xfrm>
          <a:prstGeom prst="rect">
            <a:avLst/>
          </a:prstGeom>
          <a:noFill/>
          <a:ln/>
        </p:spPr>
        <p:txBody>
          <a:bodyPr wrap="square" lIns="0" tIns="0" rIns="0" bIns="0" rtlCol="0" anchor="t"/>
          <a:lstStyle/>
          <a:p>
            <a:pPr indent="0" marL="0">
              <a:buNone/>
            </a:pPr>
            <a:r>
              <a:rPr lang="en-US" sz="1400" b="1" dirty="0">
                <a:solidFill>
                  <a:schemeClr val="tx2"/>
                </a:solidFill>
              </a:rPr>
              <a:t>Valuation</a:t>
            </a:r>
            <a:endParaRPr lang="en-US" sz="1400" dirty="0"/>
          </a:p>
          <a:p>
            <a:pPr indent="0" marL="0">
              <a:buNone/>
            </a:pPr>
            <a:r>
              <a:rPr lang="en-US" sz="1300" dirty="0">
                <a:solidFill>
                  <a:schemeClr val="tx1"/>
                </a:solidFill>
              </a:rPr>
              <a:t>Issue P/E compared with the peer average</a:t>
            </a:r>
            <a:endParaRPr lang="en-US" sz="1400" dirty="0"/>
          </a:p>
        </p:txBody>
      </p:sp>
      <p:sp>
        <p:nvSpPr>
          <p:cNvPr id="11" name="chip-121"/>
          <p:cNvSpPr/>
          <p:nvPr/>
        </p:nvSpPr>
        <p:spPr>
          <a:xfrm>
            <a:off x="4023360" y="3246120"/>
            <a:ext cx="384048" cy="384048"/>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2" name="text-122"/>
          <p:cNvSpPr txBox="1"/>
          <p:nvPr/>
        </p:nvSpPr>
        <p:spPr>
          <a:xfrm>
            <a:off x="4572000" y="3172968"/>
            <a:ext cx="4114800" cy="640080"/>
          </a:xfrm>
          <a:prstGeom prst="rect">
            <a:avLst/>
          </a:prstGeom>
          <a:noFill/>
          <a:ln/>
        </p:spPr>
        <p:txBody>
          <a:bodyPr wrap="square" lIns="0" tIns="0" rIns="0" bIns="0" rtlCol="0" anchor="t"/>
          <a:lstStyle/>
          <a:p>
            <a:pPr indent="0" marL="0">
              <a:buNone/>
            </a:pPr>
            <a:r>
              <a:rPr lang="en-US" sz="1400" b="1" dirty="0">
                <a:solidFill>
                  <a:schemeClr val="tx2"/>
                </a:solidFill>
              </a:rPr>
              <a:t>Market</a:t>
            </a:r>
            <a:endParaRPr lang="en-US" sz="1400" dirty="0"/>
          </a:p>
          <a:p>
            <a:pPr indent="0" marL="0">
              <a:buNone/>
            </a:pPr>
            <a:r>
              <a:rPr lang="en-US" sz="1300" dirty="0">
                <a:solidFill>
                  <a:schemeClr val="tx1"/>
                </a:solidFill>
              </a:rPr>
              <a:t>Nifty return before the IPO, sector</a:t>
            </a:r>
            <a:endParaRPr lang="en-US" sz="1400" dirty="0"/>
          </a:p>
        </p:txBody>
      </p:sp>
      <p:sp>
        <p:nvSpPr>
          <p:cNvPr id="13" name="chip-123"/>
          <p:cNvSpPr/>
          <p:nvPr/>
        </p:nvSpPr>
        <p:spPr>
          <a:xfrm>
            <a:off x="4023360" y="3922776"/>
            <a:ext cx="384048" cy="384048"/>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4" name="text-124"/>
          <p:cNvSpPr txBox="1"/>
          <p:nvPr/>
        </p:nvSpPr>
        <p:spPr>
          <a:xfrm>
            <a:off x="4572000" y="3849624"/>
            <a:ext cx="4114800" cy="640080"/>
          </a:xfrm>
          <a:prstGeom prst="rect">
            <a:avLst/>
          </a:prstGeom>
          <a:noFill/>
          <a:ln/>
        </p:spPr>
        <p:txBody>
          <a:bodyPr wrap="square" lIns="0" tIns="0" rIns="0" bIns="0" rtlCol="0" anchor="t"/>
          <a:lstStyle/>
          <a:p>
            <a:pPr indent="0" marL="0">
              <a:buNone/>
            </a:pPr>
            <a:r>
              <a:rPr lang="en-US" sz="1400" b="1" dirty="0">
                <a:solidFill>
                  <a:schemeClr val="tx2"/>
                </a:solidFill>
              </a:rPr>
              <a:t>Document text</a:t>
            </a:r>
            <a:endParaRPr lang="en-US" sz="1400" dirty="0"/>
          </a:p>
          <a:p>
            <a:pPr indent="0" marL="0">
              <a:buNone/>
            </a:pPr>
            <a:r>
              <a:rPr lang="en-US" sz="1300" dirty="0">
                <a:solidFill>
                  <a:schemeClr val="tx1"/>
                </a:solidFill>
              </a:rPr>
              <a:t>Risk-factor counts, text embeddings (Katsafados et al.)</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Candidate models compared</a:t>
            </a:r>
            <a:endParaRPr lang="en-US" sz="3200" dirty="0"/>
          </a:p>
        </p:txBody>
      </p:sp>
      <p:graphicFrame>
        <p:nvGraphicFramePr>
          <p:cNvPr id="17" name="table-125"/>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1463040"/>
                <a:gridCol w="1554480"/>
                <a:gridCol w="1554480"/>
                <a:gridCol w="1280160"/>
              </a:tblGrid>
              <a:tr h="41148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With ~150 IPOs</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Non-linear effects</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Explainability</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tx2"/>
                    </a:solidFill>
                  </a:tcPr>
                </a:tc>
              </a:tr>
              <a:tr h="54864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Linear / ridge regression</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Works well</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High: coefficients</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Baseline</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Works well</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Alternative</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Gradient boosting (XGBoost / LightGBM)</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Works with tuning</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Yes, incl. interactions</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High: SHAP values</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Recommended</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2"/>
                    </a:solidFill>
                  </a:tcPr>
                </a:tc>
              </a:tr>
              <a:tr h="54864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Deep neural network</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Overfits</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3"/>
                          </a:solidFill>
                          <a:latin typeface="Calibri" pitchFamily="34" charset="0"/>
                          <a:ea typeface="Calibri" pitchFamily="34" charset="-122"/>
                          <a:cs typeface="Calibri" pitchFamily="34" charset="-120"/>
                        </a:rPr>
                        <a:t>Not used</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EDF3F2"/>
                      </a:solidFill>
                      <a:prstDash val="solid"/>
                      <a:round/>
                      <a:headEnd type="none" w="med" len="med"/>
                      <a:tailEnd type="none" w="med" len="med"/>
                    </a:lnB>
                    <a:solidFill>
                      <a:schemeClr val="bg1"/>
                    </a:solidFill>
                  </a:tcPr>
                </a:tc>
              </a:tr>
            </a:tbl>
          </a:graphicData>
        </a:graphic>
      </p:graphicFrame>
      <p:sp>
        <p:nvSpPr>
          <p:cNvPr id="4" name="text-126"/>
          <p:cNvSpPr txBox="1"/>
          <p:nvPr/>
        </p:nvSpPr>
        <p:spPr>
          <a:xfrm>
            <a:off x="457200" y="4023360"/>
            <a:ext cx="8229600" cy="502920"/>
          </a:xfrm>
          <a:prstGeom prst="rect">
            <a:avLst/>
          </a:prstGeom>
          <a:noFill/>
          <a:ln/>
        </p:spPr>
        <p:txBody>
          <a:bodyPr wrap="square" lIns="0" tIns="0" rIns="0" bIns="0" rtlCol="0" anchor="t"/>
          <a:lstStyle/>
          <a:p>
            <a:pPr indent="0" marL="0">
              <a:buNone/>
            </a:pPr>
            <a:r>
              <a:rPr lang="en-US" sz="1300" dirty="0">
                <a:solidFill>
                  <a:schemeClr val="accent4"/>
                </a:solidFill>
              </a:rPr>
              <a:t>We train the ridge, random forest and boosting models and compare them; a neural network is ruled out because 100–150 rows is too little data.</a:t>
            </a:r>
            <a:endParaRPr lang="en-US" sz="13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Why gradient boosting</a:t>
            </a:r>
            <a:endParaRPr lang="en-US" sz="3200" dirty="0"/>
          </a:p>
        </p:txBody>
      </p:sp>
      <p:sp>
        <p:nvSpPr>
          <p:cNvPr id="3" name="card-127"/>
          <p:cNvSpPr/>
          <p:nvPr/>
        </p:nvSpPr>
        <p:spPr>
          <a:xfrm>
            <a:off x="457200" y="1143000"/>
            <a:ext cx="3977640" cy="1325880"/>
          </a:xfrm>
          <a:prstGeom prst="roundRect">
            <a:avLst>
              <a:gd name="adj" fmla="val 5517"/>
            </a:avLst>
          </a:prstGeom>
          <a:solidFill>
            <a:schemeClr val="bg2"/>
          </a:solidFill>
          <a:ln w="9525">
            <a:solidFill>
              <a:schemeClr val="bg2"/>
            </a:solidFill>
            <a:prstDash val="solid"/>
          </a:ln>
        </p:spPr>
      </p:sp>
      <p:sp>
        <p:nvSpPr>
          <p:cNvPr id="4" name="chip-128"/>
          <p:cNvSpPr/>
          <p:nvPr/>
        </p:nvSpPr>
        <p:spPr>
          <a:xfrm>
            <a:off x="640080" y="1325880"/>
            <a:ext cx="384048" cy="384048"/>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 name="text-129"/>
          <p:cNvSpPr txBox="1"/>
          <p:nvPr/>
        </p:nvSpPr>
        <p:spPr>
          <a:xfrm>
            <a:off x="1188720" y="1298448"/>
            <a:ext cx="3063240" cy="1097280"/>
          </a:xfrm>
          <a:prstGeom prst="rect">
            <a:avLst/>
          </a:prstGeom>
          <a:noFill/>
          <a:ln/>
        </p:spPr>
        <p:txBody>
          <a:bodyPr wrap="square" lIns="0" tIns="0" rIns="0" bIns="0" rtlCol="0" anchor="t"/>
          <a:lstStyle/>
          <a:p>
            <a:pPr indent="0" marL="0">
              <a:buNone/>
            </a:pPr>
            <a:r>
              <a:rPr lang="en-US" sz="1500" b="1" dirty="0">
                <a:solidFill>
                  <a:schemeClr val="tx2"/>
                </a:solidFill>
              </a:rPr>
              <a:t>Built for small tabular data</a:t>
            </a:r>
            <a:endParaRPr lang="en-US" sz="1400" dirty="0"/>
          </a:p>
          <a:p>
            <a:pPr indent="0" marL="0">
              <a:buNone/>
            </a:pPr>
            <a:r>
              <a:rPr lang="en-US" sz="1300" dirty="0">
                <a:solidFill>
                  <a:schemeClr val="tx1"/>
                </a:solidFill>
              </a:rPr>
              <a:t>Our data is about 150 rows of numeric features, where boosted trees consistently beat neural networks</a:t>
            </a:r>
            <a:endParaRPr lang="en-US" sz="1400" dirty="0"/>
          </a:p>
        </p:txBody>
      </p:sp>
      <p:sp>
        <p:nvSpPr>
          <p:cNvPr id="6" name="card-130"/>
          <p:cNvSpPr/>
          <p:nvPr/>
        </p:nvSpPr>
        <p:spPr>
          <a:xfrm>
            <a:off x="4709160" y="1143000"/>
            <a:ext cx="3977640" cy="1325880"/>
          </a:xfrm>
          <a:prstGeom prst="roundRect">
            <a:avLst>
              <a:gd name="adj" fmla="val 5517"/>
            </a:avLst>
          </a:prstGeom>
          <a:solidFill>
            <a:schemeClr val="bg2"/>
          </a:solidFill>
          <a:ln w="9525">
            <a:solidFill>
              <a:schemeClr val="bg2"/>
            </a:solidFill>
            <a:prstDash val="solid"/>
          </a:ln>
        </p:spPr>
      </p:sp>
      <p:sp>
        <p:nvSpPr>
          <p:cNvPr id="7" name="chip-131"/>
          <p:cNvSpPr/>
          <p:nvPr/>
        </p:nvSpPr>
        <p:spPr>
          <a:xfrm>
            <a:off x="4892040" y="1325880"/>
            <a:ext cx="384048" cy="384048"/>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8" name="text-132"/>
          <p:cNvSpPr txBox="1"/>
          <p:nvPr/>
        </p:nvSpPr>
        <p:spPr>
          <a:xfrm>
            <a:off x="5440680" y="1298448"/>
            <a:ext cx="3063240" cy="1097280"/>
          </a:xfrm>
          <a:prstGeom prst="rect">
            <a:avLst/>
          </a:prstGeom>
          <a:noFill/>
          <a:ln/>
        </p:spPr>
        <p:txBody>
          <a:bodyPr wrap="square" lIns="0" tIns="0" rIns="0" bIns="0" rtlCol="0" anchor="t"/>
          <a:lstStyle/>
          <a:p>
            <a:pPr indent="0" marL="0">
              <a:buNone/>
            </a:pPr>
            <a:r>
              <a:rPr lang="en-US" sz="1500" b="1" dirty="0">
                <a:solidFill>
                  <a:schemeClr val="tx2"/>
                </a:solidFill>
              </a:rPr>
              <a:t>Captures interactions</a:t>
            </a:r>
            <a:endParaRPr lang="en-US" sz="1400" dirty="0"/>
          </a:p>
          <a:p>
            <a:pPr indent="0" marL="0">
              <a:buNone/>
            </a:pPr>
            <a:r>
              <a:rPr lang="en-US" sz="1300" dirty="0">
                <a:solidFill>
                  <a:schemeClr val="tx1"/>
                </a:solidFill>
              </a:rPr>
              <a:t>A high issue P/E may only hurt when peers trade lower; trees learn such effects without hand-coding</a:t>
            </a:r>
            <a:endParaRPr lang="en-US" sz="1400" dirty="0"/>
          </a:p>
        </p:txBody>
      </p:sp>
      <p:sp>
        <p:nvSpPr>
          <p:cNvPr id="9" name="card-133"/>
          <p:cNvSpPr/>
          <p:nvPr/>
        </p:nvSpPr>
        <p:spPr>
          <a:xfrm>
            <a:off x="457200" y="2606040"/>
            <a:ext cx="3977640" cy="1325880"/>
          </a:xfrm>
          <a:prstGeom prst="roundRect">
            <a:avLst>
              <a:gd name="adj" fmla="val 5517"/>
            </a:avLst>
          </a:prstGeom>
          <a:solidFill>
            <a:schemeClr val="bg2"/>
          </a:solidFill>
          <a:ln w="9525">
            <a:solidFill>
              <a:schemeClr val="bg2"/>
            </a:solidFill>
            <a:prstDash val="solid"/>
          </a:ln>
        </p:spPr>
      </p:sp>
      <p:sp>
        <p:nvSpPr>
          <p:cNvPr id="10" name="chip-134"/>
          <p:cNvSpPr/>
          <p:nvPr/>
        </p:nvSpPr>
        <p:spPr>
          <a:xfrm>
            <a:off x="640080" y="2788920"/>
            <a:ext cx="384048" cy="384048"/>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1" name="text-135"/>
          <p:cNvSpPr txBox="1"/>
          <p:nvPr/>
        </p:nvSpPr>
        <p:spPr>
          <a:xfrm>
            <a:off x="1188720" y="2761488"/>
            <a:ext cx="3063240" cy="1097280"/>
          </a:xfrm>
          <a:prstGeom prst="rect">
            <a:avLst/>
          </a:prstGeom>
          <a:noFill/>
          <a:ln/>
        </p:spPr>
        <p:txBody>
          <a:bodyPr wrap="square" lIns="0" tIns="0" rIns="0" bIns="0" rtlCol="0" anchor="t"/>
          <a:lstStyle/>
          <a:p>
            <a:pPr indent="0" marL="0">
              <a:buNone/>
            </a:pPr>
            <a:r>
              <a:rPr lang="en-US" sz="1500" b="1" dirty="0">
                <a:solidFill>
                  <a:schemeClr val="tx2"/>
                </a:solidFill>
              </a:rPr>
              <a:t>Explainable predictions</a:t>
            </a:r>
            <a:endParaRPr lang="en-US" sz="1400" dirty="0"/>
          </a:p>
          <a:p>
            <a:pPr indent="0" marL="0">
              <a:buNone/>
            </a:pPr>
            <a:r>
              <a:rPr lang="en-US" sz="1300" dirty="0">
                <a:solidFill>
                  <a:schemeClr val="tx1"/>
                </a:solidFill>
              </a:rPr>
              <a:t>SHAP values split each prediction into feature contributions: the reasoning an underwriter must show</a:t>
            </a:r>
            <a:endParaRPr lang="en-US" sz="1400" dirty="0"/>
          </a:p>
        </p:txBody>
      </p:sp>
      <p:sp>
        <p:nvSpPr>
          <p:cNvPr id="12" name="card-136"/>
          <p:cNvSpPr/>
          <p:nvPr/>
        </p:nvSpPr>
        <p:spPr>
          <a:xfrm>
            <a:off x="4709160" y="2606040"/>
            <a:ext cx="3977640" cy="1325880"/>
          </a:xfrm>
          <a:prstGeom prst="roundRect">
            <a:avLst>
              <a:gd name="adj" fmla="val 5517"/>
            </a:avLst>
          </a:prstGeom>
          <a:solidFill>
            <a:schemeClr val="bg2"/>
          </a:solidFill>
          <a:ln w="9525">
            <a:solidFill>
              <a:schemeClr val="bg2"/>
            </a:solidFill>
            <a:prstDash val="solid"/>
          </a:ln>
        </p:spPr>
      </p:sp>
      <p:sp>
        <p:nvSpPr>
          <p:cNvPr id="13" name="chip-137"/>
          <p:cNvSpPr/>
          <p:nvPr/>
        </p:nvSpPr>
        <p:spPr>
          <a:xfrm>
            <a:off x="4892040" y="2788920"/>
            <a:ext cx="384048" cy="384048"/>
          </a:xfrm>
          <a:prstGeom prst="ellipse">
            <a:avLst/>
          </a:prstGeom>
          <a:solidFill>
            <a:schemeClr val="accent1"/>
          </a:solidFill>
          <a:ln w="19050">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4" name="text-138"/>
          <p:cNvSpPr txBox="1"/>
          <p:nvPr/>
        </p:nvSpPr>
        <p:spPr>
          <a:xfrm>
            <a:off x="5440680" y="2761488"/>
            <a:ext cx="3063240" cy="1097280"/>
          </a:xfrm>
          <a:prstGeom prst="rect">
            <a:avLst/>
          </a:prstGeom>
          <a:noFill/>
          <a:ln/>
        </p:spPr>
        <p:txBody>
          <a:bodyPr wrap="square" lIns="0" tIns="0" rIns="0" bIns="0" rtlCol="0" anchor="t"/>
          <a:lstStyle/>
          <a:p>
            <a:pPr indent="0" marL="0">
              <a:buNone/>
            </a:pPr>
            <a:r>
              <a:rPr lang="en-US" sz="1500" b="1" dirty="0">
                <a:solidFill>
                  <a:schemeClr val="tx2"/>
                </a:solidFill>
              </a:rPr>
              <a:t>Practical to train</a:t>
            </a:r>
            <a:endParaRPr lang="en-US" sz="1400" dirty="0"/>
          </a:p>
          <a:p>
            <a:pPr indent="0" marL="0">
              <a:buNone/>
            </a:pPr>
            <a:r>
              <a:rPr lang="en-US" sz="1300" dirty="0">
                <a:solidFill>
                  <a:schemeClr val="tx1"/>
                </a:solidFill>
              </a:rPr>
              <a:t>Handles missing values and sector categories; depth limits and early stopping control overfitting</a:t>
            </a:r>
            <a:endParaRPr lang="en-US" sz="1400" dirty="0"/>
          </a:p>
        </p:txBody>
      </p:sp>
      <p:sp>
        <p:nvSpPr>
          <p:cNvPr id="15" name="text-139"/>
          <p:cNvSpPr txBox="1"/>
          <p:nvPr/>
        </p:nvSpPr>
        <p:spPr>
          <a:xfrm>
            <a:off x="457200" y="4114800"/>
            <a:ext cx="8229600" cy="502920"/>
          </a:xfrm>
          <a:prstGeom prst="rect">
            <a:avLst/>
          </a:prstGeom>
          <a:noFill/>
          <a:ln/>
        </p:spPr>
        <p:txBody>
          <a:bodyPr wrap="square" lIns="0" tIns="0" rIns="0" bIns="0" rtlCol="0" anchor="ctr"/>
          <a:lstStyle/>
          <a:p>
            <a:pPr indent="0" marL="0">
              <a:buNone/>
            </a:pPr>
            <a:r>
              <a:rPr lang="en-US" sz="1400" b="1" dirty="0">
                <a:solidFill>
                  <a:schemeClr val="accent2"/>
                </a:solidFill>
              </a:rPr>
              <a:t>Safeguard: </a:t>
            </a:r>
            <a:pPr indent="0" marL="0">
              <a:buNone/>
            </a:pPr>
            <a:r>
              <a:rPr lang="en-US" sz="1400" dirty="0">
                <a:solidFill>
                  <a:schemeClr val="tx1"/>
                </a:solidFill>
              </a:rPr>
              <a:t>keep trees shallow, compare against the ridge baseline, and report the simpler model if boosting does not beat it.</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How we will evaluate it</a:t>
            </a:r>
            <a:endParaRPr lang="en-US" sz="3200" dirty="0"/>
          </a:p>
        </p:txBody>
      </p:sp>
      <p:sp>
        <p:nvSpPr>
          <p:cNvPr id="3" name="split-140"/>
          <p:cNvSpPr/>
          <p:nvPr/>
        </p:nvSpPr>
        <p:spPr>
          <a:xfrm>
            <a:off x="457200" y="1188720"/>
            <a:ext cx="5120640" cy="548640"/>
          </a:xfrm>
          <a:prstGeom prst="rect">
            <a:avLst/>
          </a:prstGeom>
          <a:solidFill>
            <a:schemeClr val="accent1"/>
          </a:solidFill>
          <a:ln w="25400">
            <a:solidFill>
              <a:schemeClr val="bg1"/>
            </a:solidFill>
          </a:ln>
        </p:spPr>
        <p:txBody>
          <a:bodyPr wrap="square" lIns="0" tIns="0" rIns="0" bIns="0" rtlCol="0" anchor="ctr"/>
          <a:lstStyle/>
          <a:p>
            <a:pPr algn="ctr" indent="0" marL="0">
              <a:buNone/>
            </a:pPr>
            <a:r>
              <a:rPr lang="en-US" sz="1400" b="1" dirty="0">
                <a:solidFill>
                  <a:schemeClr val="bg1"/>
                </a:solidFill>
              </a:rPr>
              <a:t>Train: older IPOs</a:t>
            </a:r>
            <a:endParaRPr lang="en-US" sz="1400" dirty="0"/>
          </a:p>
        </p:txBody>
      </p:sp>
      <p:sp>
        <p:nvSpPr>
          <p:cNvPr id="4" name="split-141"/>
          <p:cNvSpPr/>
          <p:nvPr/>
        </p:nvSpPr>
        <p:spPr>
          <a:xfrm>
            <a:off x="5577840" y="1188720"/>
            <a:ext cx="1463040" cy="548640"/>
          </a:xfrm>
          <a:prstGeom prst="rect">
            <a:avLst/>
          </a:prstGeom>
          <a:solidFill>
            <a:schemeClr val="accent4"/>
          </a:solidFill>
          <a:ln w="25400">
            <a:solidFill>
              <a:schemeClr val="bg1"/>
            </a:solidFill>
          </a:ln>
        </p:spPr>
        <p:txBody>
          <a:bodyPr wrap="square" lIns="0" tIns="0" rIns="0" bIns="0" rtlCol="0" anchor="ctr"/>
          <a:lstStyle/>
          <a:p>
            <a:pPr algn="ctr" indent="0" marL="0">
              <a:buNone/>
            </a:pPr>
            <a:r>
              <a:rPr lang="en-US" sz="1400" b="1" dirty="0">
                <a:solidFill>
                  <a:schemeClr val="bg1"/>
                </a:solidFill>
              </a:rPr>
              <a:t>Validate</a:t>
            </a:r>
            <a:endParaRPr lang="en-US" sz="1400" dirty="0"/>
          </a:p>
        </p:txBody>
      </p:sp>
      <p:sp>
        <p:nvSpPr>
          <p:cNvPr id="5" name="split-142"/>
          <p:cNvSpPr/>
          <p:nvPr/>
        </p:nvSpPr>
        <p:spPr>
          <a:xfrm>
            <a:off x="7040880" y="1188720"/>
            <a:ext cx="1645920" cy="548640"/>
          </a:xfrm>
          <a:prstGeom prst="rect">
            <a:avLst/>
          </a:prstGeom>
          <a:solidFill>
            <a:schemeClr val="accent2"/>
          </a:solidFill>
          <a:ln w="25400">
            <a:solidFill>
              <a:schemeClr val="bg1"/>
            </a:solidFill>
          </a:ln>
        </p:spPr>
        <p:txBody>
          <a:bodyPr wrap="square" lIns="0" tIns="0" rIns="0" bIns="0" rtlCol="0" anchor="ctr"/>
          <a:lstStyle/>
          <a:p>
            <a:pPr algn="ctr" indent="0" marL="0">
              <a:buNone/>
            </a:pPr>
            <a:r>
              <a:rPr lang="en-US" sz="1400" b="1" dirty="0">
                <a:solidFill>
                  <a:schemeClr val="bg1"/>
                </a:solidFill>
              </a:rPr>
              <a:t>Test: 15–20 newest</a:t>
            </a:r>
            <a:endParaRPr lang="en-US" sz="1400" dirty="0"/>
          </a:p>
        </p:txBody>
      </p:sp>
      <p:sp>
        <p:nvSpPr>
          <p:cNvPr id="6" name="arrow-143"/>
          <p:cNvSpPr/>
          <p:nvPr/>
        </p:nvSpPr>
        <p:spPr>
          <a:xfrm>
            <a:off x="457200" y="1920240"/>
            <a:ext cx="8229600" cy="0"/>
          </a:xfrm>
          <a:prstGeom prst="line">
            <a:avLst/>
          </a:prstGeom>
          <a:noFill/>
          <a:ln w="12700">
            <a:solidFill>
              <a:schemeClr val="accent4"/>
            </a:solidFill>
            <a:prstDash val="solid"/>
            <a:tailEnd type="triangle"/>
          </a:ln>
        </p:spPr>
      </p:sp>
      <p:sp>
        <p:nvSpPr>
          <p:cNvPr id="7" name="text-144"/>
          <p:cNvSpPr txBox="1"/>
          <p:nvPr/>
        </p:nvSpPr>
        <p:spPr>
          <a:xfrm>
            <a:off x="457200" y="2011680"/>
            <a:ext cx="8229600" cy="320040"/>
          </a:xfrm>
          <a:prstGeom prst="rect">
            <a:avLst/>
          </a:prstGeom>
          <a:noFill/>
          <a:ln/>
        </p:spPr>
        <p:txBody>
          <a:bodyPr wrap="square" lIns="0" tIns="0" rIns="0" bIns="0" rtlCol="0" anchor="t"/>
          <a:lstStyle/>
          <a:p>
            <a:pPr indent="0" marL="0">
              <a:buNone/>
            </a:pPr>
            <a:r>
              <a:rPr lang="en-US" sz="1200" dirty="0">
                <a:solidFill>
                  <a:schemeClr val="accent4"/>
                </a:solidFill>
              </a:rPr>
              <a:t>Split by listing date: the model never trains on IPOs that came after the ones it is tested on</a:t>
            </a:r>
            <a:endParaRPr lang="en-US" sz="1200" dirty="0"/>
          </a:p>
        </p:txBody>
      </p:sp>
      <p:sp>
        <p:nvSpPr>
          <p:cNvPr id="8" name="card-145"/>
          <p:cNvSpPr/>
          <p:nvPr/>
        </p:nvSpPr>
        <p:spPr>
          <a:xfrm>
            <a:off x="457200" y="2514600"/>
            <a:ext cx="2560320" cy="1143000"/>
          </a:xfrm>
          <a:prstGeom prst="roundRect">
            <a:avLst>
              <a:gd name="adj" fmla="val 6400"/>
            </a:avLst>
          </a:prstGeom>
          <a:solidFill>
            <a:schemeClr val="bg2"/>
          </a:solidFill>
          <a:ln w="9525">
            <a:solidFill>
              <a:schemeClr val="bg2"/>
            </a:solidFill>
            <a:prstDash val="solid"/>
          </a:ln>
        </p:spPr>
      </p:sp>
      <p:sp>
        <p:nvSpPr>
          <p:cNvPr id="9" name="text-146"/>
          <p:cNvSpPr txBox="1"/>
          <p:nvPr/>
        </p:nvSpPr>
        <p:spPr>
          <a:xfrm>
            <a:off x="640080" y="2651760"/>
            <a:ext cx="2240280" cy="914400"/>
          </a:xfrm>
          <a:prstGeom prst="rect">
            <a:avLst/>
          </a:prstGeom>
          <a:noFill/>
          <a:ln/>
        </p:spPr>
        <p:txBody>
          <a:bodyPr wrap="square" lIns="0" tIns="0" rIns="0" bIns="0" rtlCol="0" anchor="t"/>
          <a:lstStyle/>
          <a:p>
            <a:pPr indent="0" marL="0">
              <a:buNone/>
            </a:pPr>
            <a:r>
              <a:rPr lang="en-US" sz="1500" b="1" dirty="0">
                <a:solidFill>
                  <a:schemeClr val="tx2"/>
                </a:solidFill>
              </a:rPr>
              <a:t>Mean absolute error</a:t>
            </a:r>
            <a:endParaRPr lang="en-US" sz="1400" dirty="0"/>
          </a:p>
          <a:p>
            <a:pPr indent="0" marL="0">
              <a:buNone/>
            </a:pPr>
            <a:r>
              <a:rPr lang="en-US" sz="1300" dirty="0">
                <a:solidFill>
                  <a:schemeClr val="tx1"/>
                </a:solidFill>
              </a:rPr>
              <a:t>Average miss on listing-day return, in percentage points</a:t>
            </a:r>
            <a:endParaRPr lang="en-US" sz="1400" dirty="0"/>
          </a:p>
        </p:txBody>
      </p:sp>
      <p:sp>
        <p:nvSpPr>
          <p:cNvPr id="10" name="card-147"/>
          <p:cNvSpPr/>
          <p:nvPr/>
        </p:nvSpPr>
        <p:spPr>
          <a:xfrm>
            <a:off x="3291840" y="2514600"/>
            <a:ext cx="2560320" cy="1143000"/>
          </a:xfrm>
          <a:prstGeom prst="roundRect">
            <a:avLst>
              <a:gd name="adj" fmla="val 6400"/>
            </a:avLst>
          </a:prstGeom>
          <a:solidFill>
            <a:schemeClr val="bg2"/>
          </a:solidFill>
          <a:ln w="9525">
            <a:solidFill>
              <a:schemeClr val="bg2"/>
            </a:solidFill>
            <a:prstDash val="solid"/>
          </a:ln>
        </p:spPr>
      </p:sp>
      <p:sp>
        <p:nvSpPr>
          <p:cNvPr id="11" name="text-148"/>
          <p:cNvSpPr txBox="1"/>
          <p:nvPr/>
        </p:nvSpPr>
        <p:spPr>
          <a:xfrm>
            <a:off x="3474720" y="2651760"/>
            <a:ext cx="2240280" cy="914400"/>
          </a:xfrm>
          <a:prstGeom prst="rect">
            <a:avLst/>
          </a:prstGeom>
          <a:noFill/>
          <a:ln/>
        </p:spPr>
        <p:txBody>
          <a:bodyPr wrap="square" lIns="0" tIns="0" rIns="0" bIns="0" rtlCol="0" anchor="t"/>
          <a:lstStyle/>
          <a:p>
            <a:pPr indent="0" marL="0">
              <a:buNone/>
            </a:pPr>
            <a:r>
              <a:rPr lang="en-US" sz="1500" b="1" dirty="0">
                <a:solidFill>
                  <a:schemeClr val="tx2"/>
                </a:solidFill>
              </a:rPr>
              <a:t>Direction accuracy</a:t>
            </a:r>
            <a:endParaRPr lang="en-US" sz="1400" dirty="0"/>
          </a:p>
          <a:p>
            <a:pPr indent="0" marL="0">
              <a:buNone/>
            </a:pPr>
            <a:r>
              <a:rPr lang="en-US" sz="1300" dirty="0">
                <a:solidFill>
                  <a:schemeClr val="tx1"/>
                </a:solidFill>
              </a:rPr>
              <a:t>Share of IPOs where we correctly call a gain or a loss</a:t>
            </a:r>
            <a:endParaRPr lang="en-US" sz="1400" dirty="0"/>
          </a:p>
        </p:txBody>
      </p:sp>
      <p:sp>
        <p:nvSpPr>
          <p:cNvPr id="12" name="card-149"/>
          <p:cNvSpPr/>
          <p:nvPr/>
        </p:nvSpPr>
        <p:spPr>
          <a:xfrm>
            <a:off x="6126480" y="2514600"/>
            <a:ext cx="2560320" cy="1143000"/>
          </a:xfrm>
          <a:prstGeom prst="roundRect">
            <a:avLst>
              <a:gd name="adj" fmla="val 6400"/>
            </a:avLst>
          </a:prstGeom>
          <a:solidFill>
            <a:schemeClr val="bg2"/>
          </a:solidFill>
          <a:ln w="9525">
            <a:solidFill>
              <a:schemeClr val="bg2"/>
            </a:solidFill>
            <a:prstDash val="solid"/>
          </a:ln>
        </p:spPr>
      </p:sp>
      <p:sp>
        <p:nvSpPr>
          <p:cNvPr id="13" name="text-150"/>
          <p:cNvSpPr txBox="1"/>
          <p:nvPr/>
        </p:nvSpPr>
        <p:spPr>
          <a:xfrm>
            <a:off x="6309360" y="2651760"/>
            <a:ext cx="2240280" cy="914400"/>
          </a:xfrm>
          <a:prstGeom prst="rect">
            <a:avLst/>
          </a:prstGeom>
          <a:noFill/>
          <a:ln/>
        </p:spPr>
        <p:txBody>
          <a:bodyPr wrap="square" lIns="0" tIns="0" rIns="0" bIns="0" rtlCol="0" anchor="t"/>
          <a:lstStyle/>
          <a:p>
            <a:pPr indent="0" marL="0">
              <a:buNone/>
            </a:pPr>
            <a:r>
              <a:rPr lang="en-US" sz="1500" b="1" dirty="0">
                <a:solidFill>
                  <a:schemeClr val="tx2"/>
                </a:solidFill>
              </a:rPr>
              <a:t>Range hit rate</a:t>
            </a:r>
            <a:endParaRPr lang="en-US" sz="1400" dirty="0"/>
          </a:p>
          <a:p>
            <a:pPr indent="0" marL="0">
              <a:buNone/>
            </a:pPr>
            <a:r>
              <a:rPr lang="en-US" sz="1300" dirty="0">
                <a:solidFill>
                  <a:schemeClr val="tx1"/>
                </a:solidFill>
              </a:rPr>
              <a:t>Share of listing prices inside our recommended price range</a:t>
            </a:r>
            <a:endParaRPr lang="en-US" sz="1400" dirty="0"/>
          </a:p>
        </p:txBody>
      </p:sp>
      <p:sp>
        <p:nvSpPr>
          <p:cNvPr id="14" name="text-151"/>
          <p:cNvSpPr txBox="1"/>
          <p:nvPr/>
        </p:nvSpPr>
        <p:spPr>
          <a:xfrm>
            <a:off x="457200" y="3886200"/>
            <a:ext cx="8229600" cy="548640"/>
          </a:xfrm>
          <a:prstGeom prst="rect">
            <a:avLst/>
          </a:prstGeom>
          <a:noFill/>
          <a:ln/>
        </p:spPr>
        <p:txBody>
          <a:bodyPr wrap="square" lIns="0" tIns="0" rIns="0" bIns="0" rtlCol="0" anchor="ctr"/>
          <a:lstStyle/>
          <a:p>
            <a:pPr indent="0" marL="0">
              <a:buNone/>
            </a:pPr>
            <a:r>
              <a:rPr lang="en-US" sz="1400" b="1" dirty="0">
                <a:solidFill>
                  <a:schemeClr val="tx2"/>
                </a:solidFill>
              </a:rPr>
              <a:t>Baselines to beat: </a:t>
            </a:r>
            <a:pPr indent="0" marL="0">
              <a:buNone/>
            </a:pPr>
            <a:r>
              <a:rPr lang="en-US" sz="1400" dirty="0">
                <a:solidFill>
                  <a:schemeClr val="tx1"/>
                </a:solidFill>
              </a:rPr>
              <a:t>the average historical listing return, and the price implied by the peer-average P/E.</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bg1"/>
                </a:solidFill>
              </a:rPr>
              <a:t>LLM explains, ML prices</a:t>
            </a:r>
            <a:endParaRPr lang="en-US" sz="3200" dirty="0"/>
          </a:p>
        </p:txBody>
      </p:sp>
      <p:sp>
        <p:nvSpPr>
          <p:cNvPr id="3" name="text-152"/>
          <p:cNvSpPr txBox="1"/>
          <p:nvPr/>
        </p:nvSpPr>
        <p:spPr>
          <a:xfrm>
            <a:off x="457200" y="1188720"/>
            <a:ext cx="3977640" cy="411480"/>
          </a:xfrm>
          <a:prstGeom prst="rect">
            <a:avLst/>
          </a:prstGeom>
          <a:noFill/>
          <a:ln/>
        </p:spPr>
        <p:txBody>
          <a:bodyPr wrap="square" lIns="0" tIns="0" rIns="0" bIns="0" rtlCol="0" anchor="t"/>
          <a:lstStyle/>
          <a:p>
            <a:pPr indent="0" marL="0">
              <a:buNone/>
            </a:pPr>
            <a:r>
              <a:rPr lang="en-US" sz="2000" b="1" dirty="0">
                <a:solidFill>
                  <a:schemeClr val="accent2"/>
                </a:solidFill>
              </a:rPr>
              <a:t>RAG + LLM</a:t>
            </a:r>
            <a:endParaRPr lang="en-US" sz="2000" dirty="0"/>
          </a:p>
        </p:txBody>
      </p:sp>
      <p:sp>
        <p:nvSpPr>
          <p:cNvPr id="4" name="text-153"/>
          <p:cNvSpPr txBox="1"/>
          <p:nvPr/>
        </p:nvSpPr>
        <p:spPr>
          <a:xfrm>
            <a:off x="457200" y="1691640"/>
            <a:ext cx="397764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bg1"/>
                </a:solidFill>
              </a:rPr>
              <a:t>Find evidence in the DRHP</a:t>
            </a:r>
            <a:endParaRPr lang="en-US" sz="1400" dirty="0"/>
          </a:p>
          <a:p>
            <a:pPr marL="342900" indent="-342900">
              <a:spcAft>
                <a:spcPts val="400"/>
              </a:spcAft>
              <a:buSzPct val="100000"/>
              <a:buChar char="•"/>
            </a:pPr>
            <a:r>
              <a:rPr lang="en-US" sz="1500" dirty="0">
                <a:solidFill>
                  <a:schemeClr val="bg1"/>
                </a:solidFill>
              </a:rPr>
              <a:t>Extract figures into a fixed schema</a:t>
            </a:r>
            <a:endParaRPr lang="en-US" sz="1400" dirty="0"/>
          </a:p>
          <a:p>
            <a:pPr marL="342900" indent="-342900">
              <a:spcAft>
                <a:spcPts val="400"/>
              </a:spcAft>
              <a:buSzPct val="100000"/>
              <a:buChar char="•"/>
            </a:pPr>
            <a:r>
              <a:rPr lang="en-US" sz="1500" dirty="0">
                <a:solidFill>
                  <a:schemeClr val="bg1"/>
                </a:solidFill>
              </a:rPr>
              <a:t>Cite page numbers for every output</a:t>
            </a:r>
            <a:endParaRPr lang="en-US" sz="1400" dirty="0"/>
          </a:p>
        </p:txBody>
      </p:sp>
      <p:sp>
        <p:nvSpPr>
          <p:cNvPr id="5" name="text-154"/>
          <p:cNvSpPr txBox="1"/>
          <p:nvPr/>
        </p:nvSpPr>
        <p:spPr>
          <a:xfrm>
            <a:off x="4709160" y="1188720"/>
            <a:ext cx="3977640" cy="411480"/>
          </a:xfrm>
          <a:prstGeom prst="rect">
            <a:avLst/>
          </a:prstGeom>
          <a:noFill/>
          <a:ln/>
        </p:spPr>
        <p:txBody>
          <a:bodyPr wrap="square" lIns="0" tIns="0" rIns="0" bIns="0" rtlCol="0" anchor="t"/>
          <a:lstStyle/>
          <a:p>
            <a:pPr indent="0" marL="0">
              <a:buNone/>
            </a:pPr>
            <a:r>
              <a:rPr lang="en-US" sz="2000" b="1" dirty="0">
                <a:solidFill>
                  <a:schemeClr val="accent2"/>
                </a:solidFill>
              </a:rPr>
              <a:t>Code + ML model</a:t>
            </a:r>
            <a:endParaRPr lang="en-US" sz="2000" dirty="0"/>
          </a:p>
        </p:txBody>
      </p:sp>
      <p:sp>
        <p:nvSpPr>
          <p:cNvPr id="6" name="text-155"/>
          <p:cNvSpPr txBox="1"/>
          <p:nvPr/>
        </p:nvSpPr>
        <p:spPr>
          <a:xfrm>
            <a:off x="4709160" y="1691640"/>
            <a:ext cx="397764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bg1"/>
                </a:solidFill>
              </a:rPr>
              <a:t>Compute ratios deterministically</a:t>
            </a:r>
            <a:endParaRPr lang="en-US" sz="1400" dirty="0"/>
          </a:p>
          <a:p>
            <a:pPr marL="342900" indent="-342900">
              <a:spcAft>
                <a:spcPts val="400"/>
              </a:spcAft>
              <a:buSzPct val="100000"/>
              <a:buChar char="•"/>
            </a:pPr>
            <a:r>
              <a:rPr lang="en-US" sz="1500" dirty="0">
                <a:solidFill>
                  <a:schemeClr val="bg1"/>
                </a:solidFill>
              </a:rPr>
              <a:t>Peer-based valuation</a:t>
            </a:r>
            <a:endParaRPr lang="en-US" sz="1400" dirty="0"/>
          </a:p>
          <a:p>
            <a:pPr marL="342900" indent="-342900">
              <a:spcAft>
                <a:spcPts val="400"/>
              </a:spcAft>
              <a:buSzPct val="100000"/>
              <a:buChar char="•"/>
            </a:pPr>
            <a:r>
              <a:rPr lang="en-US" sz="1500" dirty="0">
                <a:solidFill>
                  <a:schemeClr val="bg1"/>
                </a:solidFill>
              </a:rPr>
              <a:t>Recommended price range</a:t>
            </a:r>
            <a:endParaRPr lang="en-US" sz="1400" dirty="0"/>
          </a:p>
        </p:txBody>
      </p:sp>
      <p:sp>
        <p:nvSpPr>
          <p:cNvPr id="7" name="text-156"/>
          <p:cNvSpPr txBox="1"/>
          <p:nvPr/>
        </p:nvSpPr>
        <p:spPr>
          <a:xfrm>
            <a:off x="457200" y="3337560"/>
            <a:ext cx="8229600" cy="914400"/>
          </a:xfrm>
          <a:prstGeom prst="rect">
            <a:avLst/>
          </a:prstGeom>
          <a:noFill/>
          <a:ln/>
        </p:spPr>
        <p:txBody>
          <a:bodyPr wrap="square" lIns="0" tIns="0" rIns="0" bIns="0" rtlCol="0" anchor="t"/>
          <a:lstStyle/>
          <a:p>
            <a:pPr indent="0" marL="0">
              <a:buNone/>
            </a:pPr>
            <a:r>
              <a:rPr lang="en-US" sz="1600" b="1" dirty="0">
                <a:solidFill>
                  <a:schemeClr val="accent2"/>
                </a:solidFill>
              </a:rPr>
              <a:t>Next actions</a:t>
            </a:r>
            <a:endParaRPr lang="en-US" sz="1400" dirty="0"/>
          </a:p>
          <a:p>
            <a:pPr indent="0" marL="0">
              <a:buNone/>
            </a:pPr>
            <a:r>
              <a:rPr lang="en-US" sz="1500" dirty="0">
                <a:solidFill>
                  <a:schemeClr val="bg1"/>
                </a:solidFill>
              </a:rPr>
              <a:t>1. Table extraction    2. Hand-checked answer set    3. Scale data to 100–150 IPOs</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Underwriter Ledger">
  <a:themeElements>
    <a:clrScheme name="Underwriter Ledger">
      <a:dk1>
        <a:srgbClr val="1B1F23"/>
      </a:dk1>
      <a:lt1>
        <a:srgbClr val="FFFFFF"/>
      </a:lt1>
      <a:dk2>
        <a:srgbClr val="0E3B43"/>
      </a:dk2>
      <a:lt2>
        <a:srgbClr val="EDF3F2"/>
      </a:lt2>
      <a:accent1>
        <a:srgbClr val="0E7C7B"/>
      </a:accent1>
      <a:accent2>
        <a:srgbClr val="C8962E"/>
      </a:accent2>
      <a:accent3>
        <a:srgbClr val="B5473A"/>
      </a:accent3>
      <a:accent4>
        <a:srgbClr val="5C6F78"/>
      </a:accent4>
      <a:accent5>
        <a:srgbClr val="6E9E58"/>
      </a:accent5>
      <a:accent6>
        <a:srgbClr val="8C6BB1"/>
      </a:accent6>
      <a:hlink>
        <a:srgbClr val="0E7C7B"/>
      </a:hlink>
      <a:folHlink>
        <a:srgbClr val="5C6F78"/>
      </a:folHlink>
    </a:clrScheme>
    <a:fontScheme name="Underwriter Led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Underwriter - Progress Update</dc:title>
  <dc:subject>PptxGenJS Presentation</dc:subject>
  <dc:creator>BFSI Project Team</dc:creator>
  <cp:lastModifiedBy>BFSI Project Team</cp:lastModifiedBy>
  <cp:revision>1</cp:revision>
  <dcterms:created xsi:type="dcterms:W3CDTF">2026-10-12T09:50:10Z</dcterms:created>
  <dcterms:modified xsi:type="dcterms:W3CDTF">2026-10-12T09:50:10Z</dcterms:modified>
</cp:coreProperties>
</file>